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 AUSM Smart RAG</a:t>
            </a:r>
          </a:p>
          <a:p/>
          <a:p>
            <a:r>
              <a:t>SAY</a:t>
            </a:r>
          </a:p>
          <a:p/>
          <a:p>
            <a:r>
              <a:t>“Today I will show AUSM Smart RAG, a local document-question-answering system. Its purpose is simple: we upload approved documents, ask questions in normal language, and receive answers that are tied to visible source passages. The important words are local, grounded, and inspectable. Local means the language model, embeddings, database, and vector search run on this computer by default. Grounded means the model is instructed to answer from retrieved document evidence rather than general memory. Inspectable means we can see citations, confidence signals, retrieval rounds, latency, and diagnostic traces.</a:t>
            </a:r>
          </a:p>
          <a:p/>
          <a:p>
            <a:r>
              <a:t>This is not being presented as a general chatbot or as a system that makes model errors impossible. It is a controlled retrieval-and-answering layer over a private document collection. I will cover the user journey, architecture, ingestion, retrieval, persistence, setup, failure recovery, limitations, and then a component-level appendix.”</a:t>
            </a:r>
          </a:p>
          <a:p/>
          <a:p>
            <a:r>
              <a:t>TRANSITION</a:t>
            </a:r>
          </a:p>
          <a:p/>
          <a:p>
            <a:r>
              <a:t>“Before looking at individual technologies, let us reduce the entire system to one minute.”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 The whole system in one minute</a:t>
            </a:r>
          </a:p>
          <a:p/>
          <a:p>
            <a:r>
              <a:t>SAY</a:t>
            </a:r>
          </a:p>
          <a:p/>
          <a:p>
            <a:r>
              <a:t>“There are three user-visible stages. First, upload: the system validates the file, extracts readable text, converts it into a structured knowledge format, divides it into meaningful passages, and indexes those passages. Second, ask: the system understands the question, searches both by meaning and by exact wording, checks whether the retrieved material is sufficient, and can make one bounded retry when coverage is weak. Third, verify: the final answer exposes its source passages and operational details so a person can inspect the evidence.</a:t>
            </a:r>
          </a:p>
          <a:p/>
          <a:p>
            <a:r>
              <a:t>RAG means retrieval-augmented generation. Retrieval happens before generation. Instead of asking the model to answer from everything it learned during training, we first supply the most relevant passages from our indexed documents. The model then writes from that bounded evidence. This is why the system is useful for private manuals, policies, specifications, reports, and books. It remains a document assistant; questions outside the indexed collection should receive an honest no-answer.”</a:t>
            </a:r>
          </a:p>
          <a:p/>
          <a:p>
            <a:r>
              <a:t>TRANSITION</a:t>
            </a:r>
          </a:p>
          <a:p/>
          <a:p>
            <a:r>
              <a:t>“Now that the behavior is clear, here is the problem this design is solving.”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 Why this exists</a:t>
            </a:r>
          </a:p>
          <a:p/>
          <a:p>
            <a:r>
              <a:t>SAY</a:t>
            </a:r>
          </a:p>
          <a:p/>
          <a:p>
            <a:r>
              <a:t>“The problem is not merely that documents are long. Search requirements conflict. Sometimes users remember the meaning but not the wording. Sometimes they need an exact identifier such as an error code, protocol name, or clause. A conventional chatbot may respond fluently while using outside knowledge or inventing a connection. For professional use, fluent text without evidence is not enough.</a:t>
            </a:r>
          </a:p>
          <a:p/>
          <a:p>
            <a:r>
              <a:t>AUSM addresses those problems with local storage and inference, combined semantic and lexical retrieval, an evidence-sufficiency gate, citations, and saved traces. This reduces model risk but does not eliminate it. A citation proves which passage was supplied; a human should still verify high-stakes conclusions. Confidence is also not a mathematically calibrated probability of truth. It summarizes retrieval and evidence quality. The business value is faster access to internal knowledge while preserving provenance, privacy, and the ability to investigate why an answer was produced.”</a:t>
            </a:r>
          </a:p>
          <a:p/>
          <a:p>
            <a:r>
              <a:t>TRANSITION</a:t>
            </a:r>
          </a:p>
          <a:p/>
          <a:p>
            <a:r>
              <a:t>“Let us follow the workflow from the user’s point of view before opening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 What a user actually does</a:t>
            </a:r>
          </a:p>
          <a:p/>
          <a:p>
            <a:r>
              <a:t>SAY</a:t>
            </a:r>
          </a:p>
          <a:p/>
          <a:p>
            <a:r>
              <a:t>“A user begins in Library and uploads one or more supported files. The upload is complete only after validation, conversion, chunking, vector indexing, and registration succeed. The user then opens Ask and uses a conversation ID. Keeping the same ID is what gives follow-up questions access to recent conversation context. A new ID starts a deliberately clean conversation.</a:t>
            </a:r>
          </a:p>
          <a:p/>
          <a:p>
            <a:r>
              <a:t>The answer screen is not limited to prose. It shows whether the evidence check passed, the query type, confidence, retrieval rounds, latency, and cited passages. Operations shows service health and allows reindexing. Insights summarizes query and comparison patterns. Diagnostics exposes plans and retrieval traces.</a:t>
            </a:r>
          </a:p>
          <a:p/>
          <a:p>
            <a:r>
              <a:t>A good demonstration should include four question types: a simple factual question, a broader summary, a follow-up that uses earlier context, and a comparison. This proves that the system changes its retrieval and answer behavior according to the request rather than returning the same style every time.”</a:t>
            </a:r>
          </a:p>
          <a:p/>
          <a:p>
            <a:r>
              <a:t>TRANSITION</a:t>
            </a:r>
          </a:p>
          <a:p/>
          <a:p>
            <a:r>
              <a:t>“Those screens all sit on top of one local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 Local deployment architecture</a:t>
            </a:r>
          </a:p>
          <a:p/>
          <a:p>
            <a:r>
              <a:t>SAY</a:t>
            </a:r>
          </a:p>
          <a:p/>
          <a:p>
            <a:r>
              <a:t>“The browser opens Streamlit on port 8501. Streamlit is the presentation layer; it does not contain a second RAG implementation. It calls FastAPI on port 8000 through documented REST or server-sent-event endpoints. FastAPI validates requests and delegates to the agentic RAG workflow. The workflow uses Ollama on port 11434 for local language and embedding models, and Qdrant on port 6333 for vector retrieval.</a:t>
            </a:r>
          </a:p>
          <a:p/>
          <a:p>
            <a:r>
              <a:t>Three persistence areas have different purposes. Files and OKF preserve source knowledge in an inspectable form. SQLite records documents, sessions, messages, queries, plans, retrieval runs, citations, and analytics. Qdrant stores the derived search index. These are local loopback services unless someone intentionally changes the configuration.</a:t>
            </a:r>
          </a:p>
          <a:p/>
          <a:p>
            <a:r>
              <a:t>If Streamlit stops, the API and stored knowledge remain. If FastAPI stops, data remains but clients cannot use it. If Qdrant is lost, it can be rebuilt from OKF. If Ollama is unavailable, language and embedding operations cannot complete.”</a:t>
            </a:r>
          </a:p>
          <a:p/>
          <a:p>
            <a:r>
              <a:t>TRANSITION</a:t>
            </a:r>
          </a:p>
          <a:p/>
          <a:p>
            <a:r>
              <a:t>“The next slide explains why these parts are separated instead of putting everything in one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 One component, one responsibility</a:t>
            </a:r>
          </a:p>
          <a:p/>
          <a:p>
            <a:r>
              <a:t>SAY</a:t>
            </a:r>
          </a:p>
          <a:p/>
          <a:p>
            <a:r>
              <a:t>“Each technology has one primary responsibility. FastAPI is the stable application contract. Streamlit is the human workspace. Ollama is the local model runtime. Qdrant is the fast dense-and-sparse retrieval index. OKF is the readable canonical knowledge representation used for provenance, chunking, relationships, and rebuild. SQLite is operational memory: it records what was uploaded, what was asked, what was retrieved, and what was answered.</a:t>
            </a:r>
          </a:p>
          <a:p/>
          <a:p>
            <a:r>
              <a:t>This separation is deliberate, not unnecessary duplication. Vector databases are optimized for similarity search, but they are not convenient master editing or auditing formats. SQLite is excellent for relational history, but it is not a semantic search engine. OKF is portable and inspectable, but scanning all files for every question would be inefficient. Separating concerns also improves recovery: the UI can be replaced without changing retrieval, and the Qdrant collection can be replaced without re-uploading documents when canonical OKF remains.”</a:t>
            </a:r>
          </a:p>
          <a:p/>
          <a:p>
            <a:r>
              <a:t>TRANSITION</a:t>
            </a:r>
          </a:p>
          <a:p/>
          <a:p>
            <a:r>
              <a:t>“With responsibilities established, we can examine exactly what happens during upload.”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 Document ingestion: from file to searchable knowledge</a:t>
            </a:r>
          </a:p>
          <a:p/>
          <a:p>
            <a:r>
              <a:t>SAY</a:t>
            </a:r>
          </a:p>
          <a:p/>
          <a:p>
            <a:r>
              <a:t>“Ingestion is a controlled pipeline. Validation checks file size, allowed extension, safe naming, and content signatures such as the PDF header. SHA-256 identifies exact duplicate content. MarkItDown then extracts normalized Markdown and useful metadata. The OKF builder wraps the converted text with document identity, provenance, hash, tags, generation information, and a self-contained source reference.</a:t>
            </a:r>
          </a:p>
          <a:p/>
          <a:p>
            <a:r>
              <a:t>The structure-aware chunker divides the concept by headings and semantic blocks. It attempts to keep tables and code fences intact and uses overlap so ideas at boundaries are not lost. Each chunk retains source file, heading path, document and concept IDs, trust information, freshness, and the original hash. EmbeddingGemma produces dense vectors, a local sparse encoder produces exact-word features, and Qdrant stores both. SQLite is marked ready only after the required work succeeds.</a:t>
            </a:r>
          </a:p>
          <a:p/>
          <a:p>
            <a:r>
              <a:t>Image-only PDFs contain pixels rather than extractable text. They must be OCR-processed before upload; changing the extension cannot create text.”</a:t>
            </a:r>
          </a:p>
          <a:p/>
          <a:p>
            <a:r>
              <a:t>TRANSITION</a:t>
            </a:r>
          </a:p>
          <a:p/>
          <a:p>
            <a:r>
              <a:t>“The ingestion output leads to the most important storage distinction in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 OKF is the source of truth; Qdrant is replaceable</a:t>
            </a:r>
          </a:p>
          <a:p/>
          <a:p>
            <a:r>
              <a:t>SAY</a:t>
            </a:r>
          </a:p>
          <a:p/>
          <a:p>
            <a:r>
              <a:t>“Here, ‘source of truth’ means the canonical knowledge representation used to reconstruct search—not that the original upload is discarded. The project preserves the original source, normalized Markdown, and an OKF concept. OKF contains readable content plus metadata and provenance. Qdrant is generated from the chunks and embeddings derived from those concepts.</a:t>
            </a:r>
          </a:p>
          <a:p/>
          <a:p>
            <a:r>
              <a:t>Therefore OKF is not just an archive. It actively feeds chunking and rebuild, carries fields that become retrieval metadata, and supplies relationships for optional graph expansion. Qdrant serves ordinary search because it is much faster than scanning files. If Qdrant’s Docker volume disappears or an embedding dimension changes, `rebuild-index` discovers the remaining OKF concepts, rechunks them, recreates the collection, and indexes them again.</a:t>
            </a:r>
          </a:p>
          <a:p/>
          <a:p>
            <a:r>
              <a:t>The cache is different from both. It stores reusable embeddings and query analyses. Removing cache may make future work slower, but it does not remove canonical knowledge. Final answers are not blindly returned from this cache.”</a:t>
            </a:r>
          </a:p>
          <a:p/>
          <a:p>
            <a:r>
              <a:t>TRANSITION</a:t>
            </a:r>
          </a:p>
          <a:p/>
          <a:p>
            <a:r>
              <a:t>“That hierarchy makes duplicate, replacement, deletion, and restart behavior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 Duplicate, update, delete, and restart behavior</a:t>
            </a:r>
          </a:p>
          <a:p/>
          <a:p>
            <a:r>
              <a:t>SAY</a:t>
            </a:r>
          </a:p>
          <a:p/>
          <a:p>
            <a:r>
              <a:t>“If the uploaded bytes have an existing SHA-256 hash, the system returns the existing document and does not index a duplicate. If the filename matches but the content hash changes, it is treated as a replacement. The new version receives a new ID and is completely converted and indexed first. Only after success is the old version removed. This protects the last working copy from a broken replacement.</a:t>
            </a:r>
          </a:p>
          <a:p/>
          <a:p>
            <a:r>
              <a:t>Deleting through Library or the API coordinates all stores: Qdrant points, document-specific OKF and reference artifacts, normalized Markdown, original source files, and the SQLite document record are removed. Deleting an OKF file manually does not notify Qdrant. Existing vectors can continue answering until a rebuild recreates Qdrant from the OKF files that remain.</a:t>
            </a:r>
          </a:p>
          <a:p/>
          <a:p>
            <a:r>
              <a:t>A computer restart does not require re-uploading. Restart Docker Desktop, Ollama, FastAPI, and Streamlit. Persistence depends on preserving the project `data` directory and the Qdrant named Docker volume.”</a:t>
            </a:r>
          </a:p>
          <a:p/>
          <a:p>
            <a:r>
              <a:t>TRANSITION</a:t>
            </a:r>
          </a:p>
          <a:p/>
          <a:p>
            <a:r>
              <a:t>“Now we move from the document lifecycle to the lifecycle of a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 Question flow: analyze, retrieve, verify, answer</a:t>
            </a:r>
          </a:p>
          <a:p/>
          <a:p>
            <a:r>
              <a:t>SAY</a:t>
            </a:r>
          </a:p>
          <a:p/>
          <a:p>
            <a:r>
              <a:t>“A question first passes request validation. The analyzer then classifies the query, identifies exact terms and comparison targets, incorporates recent conversation context, and produces a standalone query. The planner converts that analysis into one or several bounded searches. This matters because a summary may need multiple thematic searches while a locator question should remain focused.</a:t>
            </a:r>
          </a:p>
          <a:p/>
          <a:p>
            <a:r>
              <a:t>The retriever runs semantic and exact search, optionally expands linked OKF concepts, and reranks candidates. The evidence checker decides whether those passages cover the requested claim. If not, it can suggest one refinement and the orchestrator performs another round. The default maximum is two retrieval rounds and six subqueries, so ‘agentic’ does not mean uncontrolled autonomy or endless loops.</a:t>
            </a:r>
          </a:p>
          <a:p/>
          <a:p>
            <a:r>
              <a:t>If evidence remains weak, the system returns a supported no-answer. If it is sufficient, the generator selects focused excerpts, adapts length and structure, writes the answer, validates citation markers, stores the trace, and returns the response.”</a:t>
            </a:r>
          </a:p>
          <a:p/>
          <a:p>
            <a:r>
              <a:t>TRANSITION</a:t>
            </a:r>
          </a:p>
          <a:p/>
          <a:p>
            <a:r>
              <a:t>“The reason retrieval has multiple stages becomes clearer when we compare meaning search with exact search.”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 Why retrieval uses two search channels</a:t>
            </a:r>
          </a:p>
          <a:p/>
          <a:p>
            <a:r>
              <a:t>SAY</a:t>
            </a:r>
          </a:p>
          <a:p/>
          <a:p>
            <a:r>
              <a:t>“Dense search uses embeddings. It is valuable when the question and document express the same idea with different words. Sparse search protects exact language such as names, clause numbers, error codes, protocol labels, and quoted fragments. This implementation also uses compact character features because extracted PDFs sometimes join words that were visually separated.</a:t>
            </a:r>
          </a:p>
          <a:p/>
          <a:p>
            <a:r>
              <a:t>The two result lists are combined using reciprocal-rank fusion. Fusion rewards passages that rank well without assuming dense and sparse raw scores are directly comparable. The fused candidate set is then reranked. Reranking considers directness, exact-term coverage, comparison balance, trust metadata, and freshness. Optional LLM reranking can be used, while deterministic scoring remains available.</a:t>
            </a:r>
          </a:p>
          <a:p/>
          <a:p>
            <a:r>
              <a:t>The default flow narrows approximately fifteen fused candidates to eight evidence candidates. Dense search alone may miss exact identifiers; sparse search alone may miss paraphrases. Together they increase recall, and reranking improves precision before the answer model sees the evidence.”</a:t>
            </a:r>
          </a:p>
          <a:p/>
          <a:p>
            <a:r>
              <a:t>TRANSITION</a:t>
            </a:r>
          </a:p>
          <a:p/>
          <a:p>
            <a:r>
              <a:t>“Finding relevant text is not enough; the system still needs an explicit answer policy.”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 Grounded answers and adaptive detail</a:t>
            </a:r>
          </a:p>
          <a:p/>
          <a:p>
            <a:r>
              <a:t>SAY</a:t>
            </a:r>
          </a:p>
          <a:p/>
          <a:p>
            <a:r>
              <a:t>“Answer depth follows the request. A simple factual question should receive a direct answer rather than an unnecessary essay. A summary or analysis triggers broader retrieval and structured synthesis. A comparison attempts to balance both targets. A how-to request should return ordered steps when the evidence supports them.</a:t>
            </a:r>
          </a:p>
          <a:p/>
          <a:p>
            <a:r>
              <a:t>The model receives evidence-only instructions. Retrieved document text is treated as untrusted content, not as executable instructions, which helps defend against prompt injection inside documents. Citation numbers are checked against the number of supplied sources, and impossible markers are removed. When a user requests a word count, the generation budget expands accordingly; an obviously short first draft can receive one correction attempt.</a:t>
            </a:r>
          </a:p>
          <a:p/>
          <a:p>
            <a:r>
              <a:t>Confidence remains an evidence-quality signal rather than proof. A complete-looking answer may still require human review. Conversely, a no-answer is an intended safety result: it means the indexed evidence did not justify a supported response.”</a:t>
            </a:r>
          </a:p>
          <a:p/>
          <a:p>
            <a:r>
              <a:t>TRANSITION</a:t>
            </a:r>
          </a:p>
          <a:p/>
          <a:p>
            <a:r>
              <a:t>“Adaptive answering also depends on understanding genuine follow-up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 Follow-up conversations are real persisted context</a:t>
            </a:r>
          </a:p>
          <a:p/>
          <a:p>
            <a:r>
              <a:t>SAY</a:t>
            </a:r>
          </a:p>
          <a:p/>
          <a:p>
            <a:r>
              <a:t>“Conversation continuity is based on the session ID. SQLite stores both user and assistant messages. When a new question arrives, the analyzer receives up to the eight most recent messages and uses them to interpret references such as ‘that’, ‘it’, or ‘the second approach’. It then rewrites the request as a standalone retrieval query.</a:t>
            </a:r>
          </a:p>
          <a:p/>
          <a:p>
            <a:r>
              <a:t>The important boundary is that conversation history helps interpret the question; it is not automatically treated as factual document evidence. Retrieval still searches indexed documents, and the answer still depends on retrieved passages. This prevents an unsupported statement from an earlier message from silently becoming a trusted source.</a:t>
            </a:r>
          </a:p>
          <a:p/>
          <a:p>
            <a:r>
              <a:t>The Streamlit frontend reloads stored messages when a known session is reopened, so navigation or a UI restart does not erase the conversation. Choosing a new session ID intentionally creates a clean context. If SQLite is lost, conversation and trace history disappear even if Qdrant still contains searchable vectors.”</a:t>
            </a:r>
          </a:p>
          <a:p/>
          <a:p>
            <a:r>
              <a:t>TRANSITION</a:t>
            </a:r>
          </a:p>
          <a:p/>
          <a:p>
            <a:r>
              <a:t>“The same conversation capability is available through both the UI and the API.”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 Two interfaces, one backend contract</a:t>
            </a:r>
          </a:p>
          <a:p/>
          <a:p>
            <a:r>
              <a:t>SAY</a:t>
            </a:r>
          </a:p>
          <a:p/>
          <a:p>
            <a:r>
              <a:t>“Streamlit organizes the capabilities for a person: Ask handles grounded chat and citations; Library handles upload, listing, and coordinated deletion; Operations displays health and rebuild controls; Insights shows aggregates; Diagnostics exposes detailed plans and retrieval traces.</a:t>
            </a:r>
          </a:p>
          <a:p/>
          <a:p>
            <a:r>
              <a:t>FastAPI exposes the actual application contract. It provides ingestion, document lifecycle, normal JSON query, streaming query, conversation messages, query history, trace, analytics, statistics, and health endpoints. Interactive Swagger documentation is available at `http://localhost:8000/docs`.</a:t>
            </a:r>
          </a:p>
          <a:p/>
          <a:p>
            <a:r>
              <a:t>There is no hidden path where Streamlit writes directly to a database. Its API client uses the same endpoints another application would use. This means a React interface, mobile client, command-line tool, or enterprise integration can replace Streamlit without rewriting the RAG core. It also keeps lifecycle rules consistent: upload and delete behavior remains the same regardless of the calling interface.”</a:t>
            </a:r>
          </a:p>
          <a:p/>
          <a:p>
            <a:r>
              <a:t>TRANSITION</a:t>
            </a:r>
          </a:p>
          <a:p/>
          <a:p>
            <a:r>
              <a:t>“Next is the exact setup expected on a new Windows computer.”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15 — New-computer setup: Windows</a:t>
            </a:r>
          </a:p>
          <a:p/>
          <a:p>
            <a:r>
              <a:t>SAY</a:t>
            </a:r>
          </a:p>
          <a:p/>
          <a:p>
            <a:r>
              <a:t>“The supported setup assumes Git, 64-bit Python 3.12, Docker Desktop, and Ollama. Python 3.10 is not sufficient for this project’s declared environment, but Python versions can coexist. We do not copy a virtual environment between computers because it contains machine-specific paths and compiled packages.</a:t>
            </a:r>
          </a:p>
          <a:p/>
          <a:p>
            <a:r>
              <a:t>After cloning the repository, `setup.ps1` discovers Python 3.12, creates or safely recreates `.venv`, installs the pinned direct dependencies, creates `.env` when needed, verifies or pulls the generation and embedding models, starts Qdrant, and waits for health. `doctor.ps1` independently checks Python, environment consistency, Ollama, both models, Docker, Qdrant, Ruff, and Pytest.</a:t>
            </a:r>
          </a:p>
          <a:p/>
          <a:p>
            <a:r>
              <a:t>The first setup can take time because Python wheels and local model files are downloaded. Later runs use caches and should be faster. Setup should be run only after Docker Desktop and Ollama are started.”</a:t>
            </a:r>
          </a:p>
          <a:p/>
          <a:p>
            <a:r>
              <a:t>TRANSITION</a:t>
            </a:r>
          </a:p>
          <a:p/>
          <a:p>
            <a:r>
              <a:t>“Once installation is complete, daily startup is much shorter.”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16 — Daily startup and live-demo script</a:t>
            </a:r>
          </a:p>
          <a:p/>
          <a:p>
            <a:r>
              <a:t>SAY</a:t>
            </a:r>
          </a:p>
          <a:p/>
          <a:p>
            <a:r>
              <a:t>“For normal use, confirm Docker Desktop and Ollama are running. Start FastAPI in one terminal and Streamlit in a second terminal using the project’s `.venv` Python. The API is then available at `localhost:8000`, and the UI at `localhost:8501`.</a:t>
            </a:r>
          </a:p>
          <a:p/>
          <a:p>
            <a:r>
              <a:t>For a reliable live demo, I first open Operations and prove that FastAPI, SQLite, Qdrant, Ollama, and the expected models are healthy. I then upload a small text-based PDF in Library. In Ask, I use a precise factual question, a broad summary, a follow-up, and a comparison. I expand citations and open Diagnostics to show the retrieval plan and trace. Finally, reopening the same conversation demonstrates persistence.</a:t>
            </a:r>
          </a:p>
          <a:p/>
          <a:p>
            <a:r>
              <a:t>Before presenting, both models should already be pulled and a known-good file should be available. The first inference after model loading can be slower, so warm the model before the audience arrives.”</a:t>
            </a:r>
          </a:p>
          <a:p/>
          <a:p>
            <a:r>
              <a:t>TRANSITION</a:t>
            </a:r>
          </a:p>
          <a:p/>
          <a:p>
            <a:r>
              <a:t>“If something does fail, diagnosis should follow the failing stage rather than guesswork.”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17 — Troubleshooting by symptom</a:t>
            </a:r>
          </a:p>
          <a:p/>
          <a:p>
            <a:r>
              <a:t>SAY</a:t>
            </a:r>
          </a:p>
          <a:p/>
          <a:p>
            <a:r>
              <a:t>“Start with `doctor.ps1` and the `/health` response. A health request can return an HTTP response while still reporting a degraded component, so read the JSON body. ‘API offline’ usually means Uvicorn is not running or the URL is wrong. A Qdrant failure points to Docker Desktop, the container, or port 6333. An Ollama or model failure points to port 11434 or missing model files.</a:t>
            </a:r>
          </a:p>
          <a:p/>
          <a:p>
            <a:r>
              <a:t>Upload errors are stage-specific. ‘File extension and PDF content do not match’ means the bytes are not a genuine PDF. ‘Conversion produced no text’ usually means an image-only scan requiring OCR. ‘No indexed information’ means the Library is empty, Qdrant is unavailable, or the index must be rebuilt from existing OKF.</a:t>
            </a:r>
          </a:p>
          <a:p/>
          <a:p>
            <a:r>
              <a:t>An unrelated answer should be investigated through citations and the trace: confirm extraction quality, query classification, dense and sparse candidates, and final evidence. First-answer latency often reflects Ollama loading a model into memory.”</a:t>
            </a:r>
          </a:p>
          <a:p/>
          <a:p>
            <a:r>
              <a:t>TRANSITION</a:t>
            </a:r>
          </a:p>
          <a:p/>
          <a:p>
            <a:r>
              <a:t>“Operational recovery is only one side of trust; security boundaries and limitations must also be explicit.”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18 — Security boundaries and honest limitations</a:t>
            </a:r>
          </a:p>
          <a:p/>
          <a:p>
            <a:r>
              <a:t>SAY</a:t>
            </a:r>
          </a:p>
          <a:p/>
          <a:p>
            <a:r>
              <a:t>“Built-in controls include local inference and storage, upload validation, safe filename handling, prompt-injection instructions, evidence gating, no-answer behavior, citation validation, loopback service defaults, and exclusion of generated knowledge data from Git.</a:t>
            </a:r>
          </a:p>
          <a:p/>
          <a:p>
            <a:r>
              <a:t>The current boundaries are equally important. There is no built-in OCR, authentication, user authorization, multi-tenancy, high availability, or production monitoring stack. Retrieval quality depends on source quality and successful text extraction. Confidence is heuristic. Manual changes to OKF do not automatically synchronize Qdrant. Citations reduce the chance of unsupported claims but cannot guarantee model correctness.</a:t>
            </a:r>
          </a:p>
          <a:p/>
          <a:p>
            <a:r>
              <a:t>Therefore the correct description is a modular, testable local system—not a fully hardened multi-user production service. Before production use, add identity and access control, network security, secret management, backup and restore procedures, monitoring, rate limits, data-retention policy, OCR where required, and deployment-specific testing. High-stakes decisions still require human review.”</a:t>
            </a:r>
          </a:p>
          <a:p/>
          <a:p>
            <a:r>
              <a:t>TRANSITION</a:t>
            </a:r>
          </a:p>
          <a:p/>
          <a:p>
            <a:r>
              <a:t>“Within that declared scope, several concrete reliability and quality improvements have already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19 — What was hardened during implementation</a:t>
            </a:r>
          </a:p>
          <a:p/>
          <a:p>
            <a:r>
              <a:t>SAY</a:t>
            </a:r>
          </a:p>
          <a:p/>
          <a:p>
            <a:r>
              <a:t>“Setup was hardened through Python 3.12 discovery, virtual-environment recreation, pinned direct dependencies, and doctor checks. PDF handling now distinguishes invalid PDF content from valid files with no extractable text. Retrieval was improved for joined PDF words, exact locator questions, comparison detection, and sentence fragments.</a:t>
            </a:r>
          </a:p>
          <a:p/>
          <a:p>
            <a:r>
              <a:t>Answer generation now adapts context and length to the request, including larger budgets and a correction attempt for requested long summaries. Persistence includes the Qdrant named volume, OKF-based rebuilding, and saved conversation messages loaded by the UI. Streamlit issues such as invalid avatars, header overlap, URL normalization, and follow-up display were addressed.</a:t>
            </a:r>
          </a:p>
          <a:p/>
          <a:p>
            <a:r>
              <a:t>The evidence is not only a feature list: the current suite contains 32 passing automated tests, supported by live health and real-stack query checks performed during implementation. Tests reduce regression risk, but they do not prove every document or question will work. Evaluation should continue with representative domain questions and known expected sources.”</a:t>
            </a:r>
          </a:p>
          <a:p/>
          <a:p>
            <a:r>
              <a:t>TRANSITION</a:t>
            </a:r>
          </a:p>
          <a:p/>
          <a:p>
            <a:r>
              <a:t>“The next two slides answer the architecture and operation questions people most commonly raise.”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20 — Frequently asked questions: architecture</a:t>
            </a:r>
          </a:p>
          <a:p/>
          <a:p>
            <a:r>
              <a:t>SAY</a:t>
            </a:r>
          </a:p>
          <a:p/>
          <a:p>
            <a:r>
              <a:t>“Why not keep everything only in Qdrant? Because vectors are derived and inconvenient to review or edit. OKF keeps knowledge readable and rebuildable, while SQLite preserves operational history. Why is the cache present? To avoid repeating deterministic embedding and analysis work; it is not another source of truth.</a:t>
            </a:r>
          </a:p>
          <a:p/>
          <a:p>
            <a:r>
              <a:t>Does normal querying use the internet? No. After packages and Ollama models have been installed, ordinary model inference, embedding, retrieval, and persistence remain local unless configuration is intentionally changed. Why are there two models? Generating language and measuring semantic similarity are different tasks, so Gemma 4 handles language while EmbeddingGemma creates vectors.</a:t>
            </a:r>
          </a:p>
          <a:p/>
          <a:p>
            <a:r>
              <a:t>What makes the workflow agentic? Specialized stages analyze, plan, retrieve, assess, and adapt. The behavior is bounded by maximum subqueries and retrieval rounds. It cannot browse freely, execute arbitrary tools, or continue indefinitely. Separation of concerns is what makes these parts independently testable, recoverable, and replaceable.”</a:t>
            </a:r>
          </a:p>
          <a:p/>
          <a:p>
            <a:r>
              <a:t>TRANSITION</a:t>
            </a:r>
          </a:p>
          <a:p/>
          <a:p>
            <a:r>
              <a:t>“The corresponding operational answers are just as concrete.”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21 — Frequently asked questions: operation</a:t>
            </a:r>
          </a:p>
          <a:p/>
          <a:p>
            <a:r>
              <a:t>SAY</a:t>
            </a:r>
          </a:p>
          <a:p/>
          <a:p>
            <a:r>
              <a:t>“A restart does not require re-upload when the `data` directory and Qdrant volume remain. Start the services again. The same filename with identical bytes is detected as a duplicate; the same filename with changed content becomes a safe replacement built before removal of the old version.</a:t>
            </a:r>
          </a:p>
          <a:p/>
          <a:p>
            <a:r>
              <a:t>Deleting OKF by hand does not immediately delete Qdrant. Coordinated deletion must use Library or the API. If a manual OKF change was intentional, rebuild Qdrant from the remaining OKF concepts. Can the system hallucinate? The risk is reduced through retrieval, evidence checks, no-answer behavior, citations, and source inspection, but it is not eliminated. Can another frontend use it? Yes; the full contract is documented through Swagger and `api_documentation.md`.</a:t>
            </a:r>
          </a:p>
          <a:p/>
          <a:p>
            <a:r>
              <a:t>The main conclusion is: private knowledge goes in, a recoverable search index is built, and evidence-backed answers come out. The following slides are a technical appendix explaining every major component’s input, output, failure impact, and recovery path.”</a:t>
            </a:r>
          </a:p>
          <a:p/>
          <a:p>
            <a:r>
              <a:t>TRANSITION</a:t>
            </a:r>
          </a:p>
          <a:p/>
          <a:p>
            <a:r>
              <a:t>“For a non-technical audience, stop here and move to the demo. For a technical audience, continue into the component catalog.”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22 — Frontend components: the human workspace</a:t>
            </a:r>
          </a:p>
          <a:p/>
          <a:p>
            <a:r>
              <a:t>SAY</a:t>
            </a:r>
          </a:p>
          <a:p/>
          <a:p>
            <a:r>
              <a:t>“The frontend has four major responsibilities. `frontend/app.py` controls the five pages and translates user actions into API-client calls. `frontend/api_client.py` is the only HTTP boundary; it normalizes the base URL, handles REST and SSE, decodes responses, and converts network or HTTP failures into readable errors. The conversation renderer loads saved messages and presents the answer, evidence, confidence, rounds, and latency. `frontend/styles.py` owns layout and visual consistency.</a:t>
            </a:r>
          </a:p>
          <a:p/>
          <a:p>
            <a:r>
              <a:t>No frontend component writes directly to SQLite, OKF, or Qdrant. That rule prevents the UI from bypassing lifecycle validation. If Streamlit fails, users lose the workspace temporarily, but the API, models, index, and stored data remain. If styles fail, functionality remains but presentation quality drops. If the API client cannot connect, its message tells the operator to start Uvicorn and inspect health. This separation makes the UI replaceable and keeps backend behavior authoritative.”</a:t>
            </a:r>
          </a:p>
          <a:p/>
          <a:p>
            <a:r>
              <a:t>TRANSITION</a:t>
            </a:r>
          </a:p>
          <a:p/>
          <a:p>
            <a:r>
              <a:t>“The backend receives those calls through a thin API layer.”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23 — Backend components: API and dependency wiring</a:t>
            </a:r>
          </a:p>
          <a:p/>
          <a:p>
            <a:r>
              <a:t>SAY</a:t>
            </a:r>
          </a:p>
          <a:p/>
          <a:p>
            <a:r>
              <a:t>“`app/main.py` owns application startup and shutdown, route registration, database initialization, and client cleanup. `app/container.py` is dependency wiring: it constructs validated settings, the SQLite engine and sessions, Ollama and embedding clients, the Qdrant client and index, the OKF graph, and the RAG orchestrator.</a:t>
            </a:r>
          </a:p>
          <a:p/>
          <a:p>
            <a:r>
              <a:t>Document routes handle upload, list, delete, and rebuild. Query routes handle normal and streaming answers, conversation messages, query detail, and trace. Analytics and health routes expose aggregates and dependency state. These route functions remain intentionally thin: they validate transport data, create request-scoped database sessions, delegate to domain services, and translate known failures into HTTP responses.</a:t>
            </a:r>
          </a:p>
          <a:p/>
          <a:p>
            <a:r>
              <a:t>If the API process stops, no endpoint is available, but persisted stores are not erased. If dependency wiring fails, the failure appears at startup or request construction rather than producing a partially initialized system. External clients and Streamlit both receive the same contract.”</a:t>
            </a:r>
          </a:p>
          <a:p/>
          <a:p>
            <a:r>
              <a:t>TRANSITION</a:t>
            </a:r>
          </a:p>
          <a:p/>
          <a:p>
            <a:r>
              <a:t>“The document routes delegate the most complex write operation to the ingestion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24 — Ingestion components: safe file processing</a:t>
            </a:r>
          </a:p>
          <a:p/>
          <a:p>
            <a:r>
              <a:t>SAY</a:t>
            </a:r>
          </a:p>
          <a:p/>
          <a:p>
            <a:r>
              <a:t>“The upload validator operates before expensive work. It creates a safe filename, enforces the configured size and allowed types, checks signatures where applicable, and calculates SHA-256. The converter then uses MarkItDown to produce normalized Markdown and source metadata. A converter failure is reported explicitly; a scanned PDF needs OCR because the converter cannot infer text from pixels.</a:t>
            </a:r>
          </a:p>
          <a:p/>
          <a:p>
            <a:r>
              <a:t>`IngestionPipeline` coordinates every store. It writes the original source, saves converted Markdown, builds OKF, creates chunks, indexes Qdrant, and registers SQLite. On failure it rolls back database work, deletes new Qdrant points where possible, and removes partial files. Exact duplicate hashes return the existing record.</a:t>
            </a:r>
          </a:p>
          <a:p/>
          <a:p>
            <a:r>
              <a:t>For same-name changed content, the new document is fully indexed first. The old document is deleted only after success. Delete and rebuild are also centralized here so normal application actions preserve cross-store consistency.”</a:t>
            </a:r>
          </a:p>
          <a:p/>
          <a:p>
            <a:r>
              <a:t>TRANSITION</a:t>
            </a:r>
          </a:p>
          <a:p/>
          <a:p>
            <a:r>
              <a:t>“The next components turn converted text into canonical, structured knowledge.”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25 — Knowledge components: OKF, structure, and links</a:t>
            </a:r>
          </a:p>
          <a:p/>
          <a:p>
            <a:r>
              <a:t>SAY</a:t>
            </a:r>
          </a:p>
          <a:p/>
          <a:p>
            <a:r>
              <a:t>“The OKF builder creates a version 0.2 concept using YAML frontmatter and Markdown. It records type, title, tags, status, generation details, document ID, source hash, and a reference to a copied original source. The parser validates required metadata and preserves producer extension fields rather than discarding them.</a:t>
            </a:r>
          </a:p>
          <a:p/>
          <a:p>
            <a:r>
              <a:t>The chunker reads the OKF concept body. It recognizes headings, lists, tables, and code blocks, creates semantic groups with overlap, and copies provenance and lifecycle metadata into every chunk. Stable IDs connect Qdrant evidence back to its document and concept.</a:t>
            </a:r>
          </a:p>
          <a:p/>
          <a:p>
            <a:r>
              <a:t>The knowledge graph discovers sibling concepts and explicit Markdown links. Relationship expansion can add directly related concepts within a configured hop limit. It is best-effort: missing relationships do not stop dense and sparse retrieval.</a:t>
            </a:r>
          </a:p>
          <a:p/>
          <a:p>
            <a:r>
              <a:t>This is the precise reason OKF is not merely an archive. It is the inspectable master representation for chunking, rebuild, provenance, metadata, and graph relationships.”</a:t>
            </a:r>
          </a:p>
          <a:p/>
          <a:p>
            <a:r>
              <a:t>TRANSITION</a:t>
            </a:r>
          </a:p>
          <a:p/>
          <a:p>
            <a:r>
              <a:t>“Those knowledge files sit beside two other persistence mechanisms with different jobs.”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26 — Persistence components: files, SQLite, and cache</a:t>
            </a:r>
          </a:p>
          <a:p/>
          <a:p>
            <a:r>
              <a:t>SAY</a:t>
            </a:r>
          </a:p>
          <a:p/>
          <a:p>
            <a:r>
              <a:t>“The filesystem under `data` stores the uploaded source, normalized Markdown, OKF concepts and references, cache files, and the SQLite database file. The SQLite schema stores operational entities: documents, sessions, messages, queries, plans, retrieval runs and results, answer sources, comparison counts, and feedback-ready records.</a:t>
            </a:r>
          </a:p>
          <a:p/>
          <a:p>
            <a:r>
              <a:t>The repository centralizes transactions and queries so application code does not scatter SQL behavior. It is responsible for recent conversation messages, document lookup by filename or hash, trace assembly, statistics, and analytics.</a:t>
            </a:r>
          </a:p>
          <a:p/>
          <a:p>
            <a:r>
              <a:t>Cache has a narrower purpose. Embedding entries are keyed by model and exact content, while query-analysis entries depend on the query and history. Cache can be deleted safely; missing entries are recomputed. It should not be the primary backup target.</a:t>
            </a:r>
          </a:p>
          <a:p/>
          <a:p>
            <a:r>
              <a:t>For backup, prioritize original sources, OKF, and SQLite. Qdrant is useful to back up for fast recovery, but it is derived. Cache preserves processing time, not knowledge.”</a:t>
            </a:r>
          </a:p>
          <a:p/>
          <a:p>
            <a:r>
              <a:t>TRANSITION</a:t>
            </a:r>
          </a:p>
          <a:p/>
          <a:p>
            <a:r>
              <a:t>“The derived index itself contains several distinct search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27 — Qdrant components: the replaceable search index</a:t>
            </a:r>
          </a:p>
          <a:p/>
          <a:p>
            <a:r>
              <a:t>SAY</a:t>
            </a:r>
          </a:p>
          <a:p/>
          <a:p>
            <a:r>
              <a:t>“`QdrantIndex` manages collection health, creation, dimension checking, batched indexing, document deletion, and full recreation. Each point contains a dense vector, a sparse vector, and payload. Dense vectors represent semantic meaning from EmbeddingGemma. Sparse vectors represent deterministic token and compact character features for exact and spacing-resistant matching.</a:t>
            </a:r>
          </a:p>
          <a:p/>
          <a:p>
            <a:r>
              <a:t>Payload contains the passage text and everything required for filtering and citation: document and concept IDs, source filename, heading path, tags, trust tier, freshness, source hash, and other source metadata. The Docker named volume persists the collection across ordinary container restarts.</a:t>
            </a:r>
          </a:p>
          <a:p/>
          <a:p>
            <a:r>
              <a:t>When an embedding model produces a different dimension, the application does not silently mix incompatible vectors. It raises a clear rebuild requirement. Rebuild recreates the configured collection from the OKF concepts. Qdrant is therefore operationally important for speed but architecturally replaceable.”</a:t>
            </a:r>
          </a:p>
          <a:p/>
          <a:p>
            <a:r>
              <a:t>TRANSITION</a:t>
            </a:r>
          </a:p>
          <a:p/>
          <a:p>
            <a:r>
              <a:t>“Vectors and answers are produced by two separate local model responsibilities.”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28 — Model components: local generation and embeddings</a:t>
            </a:r>
          </a:p>
          <a:p/>
          <a:p>
            <a:r>
              <a:t>SAY</a:t>
            </a:r>
          </a:p>
          <a:p/>
          <a:p>
            <a:r>
              <a:t>“Ollama is the model runtime on port 11434. It hosts model files and accepts local HTTP requests; it is not a database and does not store project documents as knowledge. `OllamaClient` handles timeouts, chat, streaming, structured JSON, retry behavior, and embedding batches.</a:t>
            </a:r>
          </a:p>
          <a:p/>
          <a:p>
            <a:r>
              <a:t>The configured language model, `gemma4:e4b`, performs query analysis, optional model-assisted ranking and evidence assessment, and grounded answer generation. The smaller model can make structured-output mistakes, so deterministic validation, repair, and fallback logic protect critical planning behavior.</a:t>
            </a:r>
          </a:p>
          <a:p/>
          <a:p>
            <a:r>
              <a:t>`embeddinggemma` maps document chunks and questions into dense vectors. The vector dimension is detected at runtime rather than hard-coded. Changing to a model with another dimension requires rebuilding Qdrant so all stored vectors remain compatible.</a:t>
            </a:r>
          </a:p>
          <a:p/>
          <a:p>
            <a:r>
              <a:t>Both models run locally for normal use after installation. They perform different jobs: one generates and interprets language, while the other measures semantic similarity.”</a:t>
            </a:r>
          </a:p>
          <a:p/>
          <a:p>
            <a:r>
              <a:t>TRANSITION</a:t>
            </a:r>
          </a:p>
          <a:p/>
          <a:p>
            <a:r>
              <a:t>“The retrieval layer combines those embeddings with exact lexical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29 — Retrieval components: finding and ordering evidence</a:t>
            </a:r>
          </a:p>
          <a:p/>
          <a:p>
            <a:r>
              <a:t>SAY</a:t>
            </a:r>
          </a:p>
          <a:p/>
          <a:p>
            <a:r>
              <a:t>“`HybridRetriever` embeds each subquery, sends a dense search and a sparse search to Qdrant, and fuses the rankings. Optional filters restrict retrieval to selected document or concept IDs. For locator-style questions, compact versions of target text help match PDFs where extraction removed spaces.</a:t>
            </a:r>
          </a:p>
          <a:p/>
          <a:p>
            <a:r>
              <a:t>`LocalSparseEncoder` is deterministic and local. It creates stable indices for words and compact character features, so it does not require Elasticsearch or another external lexical service. Relationship expansion can add passages from OKF-linked concepts after initial retrieval.</a:t>
            </a:r>
          </a:p>
          <a:p/>
          <a:p>
            <a:r>
              <a:t>`AdaptiveReranker` improves precision. Locator questions emphasize exact compact coverage. General scoring considers directness, trust, freshness, and comparison balance. Optional LLM reranking can refine ordering, but deterministic behavior remains when that feature is disabled or fails.</a:t>
            </a:r>
          </a:p>
          <a:p/>
          <a:p>
            <a:r>
              <a:t>The sequence is intentional: first retrieve broadly enough to avoid missing evidence, then narrow and order it before the evidence checker evaluates sufficiency.”</a:t>
            </a:r>
          </a:p>
          <a:p/>
          <a:p>
            <a:r>
              <a:t>TRANSITION</a:t>
            </a:r>
          </a:p>
          <a:p/>
          <a:p>
            <a:r>
              <a:t>“Those candidates are handled by four specialized decision stages.”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30 — Agent components: bounded decision stages</a:t>
            </a:r>
          </a:p>
          <a:p/>
          <a:p>
            <a:r>
              <a:t>SAY</a:t>
            </a:r>
          </a:p>
          <a:p/>
          <a:p>
            <a:r>
              <a:t>“The query analyzer acts like an analyst. It reads the question and recent history, determines query type, resolves follow-up references, extracts exact terms, comparison targets, and document filters, and emits a validated QueryPlan. Its repair and fallback logic prevents an empty or obviously unsafe plan.</a:t>
            </a:r>
          </a:p>
          <a:p/>
          <a:p>
            <a:r>
              <a:t>The retrieval planner acts like a search strategist. It turns the QueryPlan into a bounded RetrievalPlan with no more than the configured number of subqueries. The evidence checker acts like a reviewer. It evaluates whether the reranked passages cover the request, assigns an evidence confidence signal, and may propose one refinement query.</a:t>
            </a:r>
          </a:p>
          <a:p/>
          <a:p>
            <a:r>
              <a:t>The answer generator acts like a controlled writer. It selects appropriate evidence, focuses excerpts, chooses structure and word budget, produces a grounded answer or no-answer, and validates citations.</a:t>
            </a:r>
          </a:p>
          <a:p/>
          <a:p>
            <a:r>
              <a:t>Calling these components agents describes specialization and adaptive decisions. They remain ordinary testable classes inside a strict orchestrated workflow, not independent autonomous processes.”</a:t>
            </a:r>
          </a:p>
          <a:p/>
          <a:p>
            <a:r>
              <a:t>TRANSITION</a:t>
            </a:r>
          </a:p>
          <a:p/>
          <a:p>
            <a:r>
              <a:t>“The orchestrator connects those roles and records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31 — Orchestration and observability components</a:t>
            </a:r>
          </a:p>
          <a:p/>
          <a:p>
            <a:r>
              <a:t>SAY</a:t>
            </a:r>
          </a:p>
          <a:p/>
          <a:p>
            <a:r>
              <a:t>“`SmartRAGOrchestrator` is the central state machine. It loads conversation history, analyzes and plans, records the query, executes each subquery, balances merged results, expands relationships, reranks evidence, checks sufficiency, performs at most the configured number of rounds, generates the answer, attaches citations, stores messages and sources, and returns QueryResponse.</a:t>
            </a:r>
          </a:p>
          <a:p/>
          <a:p>
            <a:r>
              <a:t>Typed Pydantic models define QueryPlan, RetrievalPlan, SearchResult, RetrievalBatch, RAGState, and QueryResponse. These explicit contracts catch malformed data at stage boundaries.</a:t>
            </a:r>
          </a:p>
          <a:p/>
          <a:p>
            <a:r>
              <a:t>The repository records the analysis, retrieval plan, every retrieval run, candidate counts, result ranks, evidence, confidence, latency, final sources, and comparison analytics. Diagnostics reconstructs this trace. Structured logging adds operation and timing fields for runtime troubleshooting.</a:t>
            </a:r>
          </a:p>
          <a:p/>
          <a:p>
            <a:r>
              <a:t>Therefore the ‘agent’ is not hidden inside a framework. Its sequence is readable in `app/rag/orchestrator.py`, while typed state, SQLite traces, and structured logs make behavior explainable.”</a:t>
            </a:r>
          </a:p>
          <a:p/>
          <a:p>
            <a:r>
              <a:t>TRANSITION</a:t>
            </a:r>
          </a:p>
          <a:p/>
          <a:p>
            <a:r>
              <a:t>“The final component group makes the same architecture reproducible on another computer.”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32 — Runtime, configuration, and verification components</a:t>
            </a:r>
          </a:p>
          <a:p/>
          <a:p>
            <a:r>
              <a:t>SAY</a:t>
            </a:r>
          </a:p>
          <a:p/>
          <a:p>
            <a:r>
              <a:t>“`Settings` centralizes service URLs, model names, paths, timeouts, retrieval limits, thresholds, and feature flags, loading them from `.env` with validated defaults. `docker-compose.yml` pins Qdrant, exposes loopback ports, defines a health check, and attaches a persistent named volume.</a:t>
            </a:r>
          </a:p>
          <a:p/>
          <a:p>
            <a:r>
              <a:t>`setup.ps1` builds the machine-local environment and starts dependencies. `doctor.ps1` verifies the result and names the failing prerequisite instead of leaving the operator with a vague symptom. The tests cover core parsing and retrieval logic, database behavior, ingestion lifecycle, frontend client behavior, Ollama response handling, evaluation, and a local Qdrant integration path.</a:t>
            </a:r>
          </a:p>
          <a:p/>
          <a:p>
            <a:r>
              <a:t>These are architectural components because reliable operation is not separate from software design. Reproducible setup, explicit configuration, health checks, persistent storage, traceability, and tests determine whether the system can be trusted and maintained.</a:t>
            </a:r>
          </a:p>
          <a:p/>
          <a:p>
            <a:r>
              <a:t>To close: every major component has one responsibility, known inputs and outputs, a visible failure mode, and a recovery path. That is what makes AUSM Smart RAG understandable, inspectable, and replaceable rather than a black box.”</a:t>
            </a:r>
          </a:p>
          <a:p/>
          <a:p>
            <a:r>
              <a:t>FINAL CLOSE</a:t>
            </a:r>
          </a:p>
          <a:p/>
          <a:p>
            <a:r>
              <a:t>“Thank you. I will now demonstrate the upload, query, citations, follow-up memory, and diagnostic trace using the same architecture we have just examined.”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A2B"/>
        </a:solidFill>
        <a:effectLst/>
      </p:bgPr>
    </p:bg>
    <p:spTree>
      <p:nvGrpSpPr>
        <p:cNvPr id="1" name=""/>
        <p:cNvGrpSpPr/>
        <p:nvPr/>
      </p:nvGrpSpPr>
      <p:grpSpPr/>
      <p:sp>
        <p:nvSpPr>
          <p:cNvPr id="2" name="Oval 1"/>
          <p:cNvSpPr/>
          <p:nvPr/>
        </p:nvSpPr>
        <p:spPr>
          <a:xfrm>
            <a:off x="9784080" y="-640080"/>
            <a:ext cx="2926080" cy="2926080"/>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5029200"/>
            <a:ext cx="2194560" cy="2194560"/>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5394960"/>
            <a:ext cx="1828800" cy="1828800"/>
          </a:xfrm>
          <a:prstGeom prst="ellipse">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658368"/>
            <a:ext cx="2240280" cy="310896"/>
          </a:xfrm>
          <a:prstGeom prst="roundRect">
            <a:avLst/>
          </a:prstGeom>
          <a:solidFill>
            <a:srgbClr val="2F6FED"/>
          </a:solidFill>
          <a:ln w="12700">
            <a:solidFill>
              <a:srgbClr val="2F6F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731519"/>
            <a:ext cx="2093976" cy="164592"/>
          </a:xfrm>
          <a:prstGeom prst="rect">
            <a:avLst/>
          </a:prstGeom>
          <a:noFill/>
        </p:spPr>
        <p:txBody>
          <a:bodyPr wrap="square" lIns="36576" rIns="36576" tIns="36576" bIns="36576" anchor="t">
            <a:spAutoFit/>
          </a:bodyPr>
          <a:lstStyle/>
          <a:p>
            <a:pPr algn="l">
              <a:defRPr sz="850" b="1">
                <a:solidFill>
                  <a:srgbClr val="FFFFFF"/>
                </a:solidFill>
                <a:latin typeface="Aptos"/>
              </a:defRPr>
            </a:pPr>
            <a:r>
              <a:t>LOCAL • PRIVATE • GROUNDED</a:t>
            </a:r>
          </a:p>
        </p:txBody>
      </p:sp>
      <p:sp>
        <p:nvSpPr>
          <p:cNvPr id="7" name="TextBox 6"/>
          <p:cNvSpPr txBox="1"/>
          <p:nvPr/>
        </p:nvSpPr>
        <p:spPr>
          <a:xfrm>
            <a:off x="731520" y="1353312"/>
            <a:ext cx="8046720" cy="731520"/>
          </a:xfrm>
          <a:prstGeom prst="rect">
            <a:avLst/>
          </a:prstGeom>
          <a:noFill/>
        </p:spPr>
        <p:txBody>
          <a:bodyPr wrap="square" lIns="36576" rIns="36576" tIns="36576" bIns="36576" anchor="t">
            <a:spAutoFit/>
          </a:bodyPr>
          <a:lstStyle/>
          <a:p>
            <a:pPr algn="l">
              <a:defRPr sz="3800" b="1">
                <a:solidFill>
                  <a:srgbClr val="FFFFFF"/>
                </a:solidFill>
                <a:latin typeface="Aptos"/>
              </a:defRPr>
            </a:pPr>
            <a:r>
              <a:t>AUSM Smart RAG</a:t>
            </a:r>
          </a:p>
        </p:txBody>
      </p:sp>
      <p:sp>
        <p:nvSpPr>
          <p:cNvPr id="8" name="TextBox 7"/>
          <p:cNvSpPr txBox="1"/>
          <p:nvPr/>
        </p:nvSpPr>
        <p:spPr>
          <a:xfrm>
            <a:off x="749808" y="2212848"/>
            <a:ext cx="7955279" cy="777240"/>
          </a:xfrm>
          <a:prstGeom prst="rect">
            <a:avLst/>
          </a:prstGeom>
          <a:noFill/>
        </p:spPr>
        <p:txBody>
          <a:bodyPr wrap="square" lIns="36576" rIns="36576" tIns="36576" bIns="36576" anchor="t">
            <a:spAutoFit/>
          </a:bodyPr>
          <a:lstStyle/>
          <a:p>
            <a:pPr algn="l">
              <a:defRPr sz="2100" b="0">
                <a:solidFill>
                  <a:srgbClr val="C2CFE5"/>
                </a:solidFill>
                <a:latin typeface="Aptos"/>
              </a:defRPr>
            </a:pPr>
            <a:r>
              <a:t>Turn private documents into evidence-backed conversations — entirely on your computer.</a:t>
            </a:r>
          </a:p>
        </p:txBody>
      </p:sp>
      <p:sp>
        <p:nvSpPr>
          <p:cNvPr id="9" name="TextBox 8"/>
          <p:cNvSpPr txBox="1"/>
          <p:nvPr/>
        </p:nvSpPr>
        <p:spPr>
          <a:xfrm>
            <a:off x="749808" y="3273552"/>
            <a:ext cx="9601200" cy="384048"/>
          </a:xfrm>
          <a:prstGeom prst="rect">
            <a:avLst/>
          </a:prstGeom>
          <a:noFill/>
        </p:spPr>
        <p:txBody>
          <a:bodyPr wrap="none" lIns="36576" rIns="36576" tIns="27432" bIns="27432">
            <a:spAutoFit/>
          </a:bodyPr>
          <a:lstStyle/>
          <a:p>
            <a:pPr algn="l"/>
            <a:r>
              <a:rPr sz="1500" b="1">
                <a:solidFill>
                  <a:srgbClr val="FFFFFF"/>
                </a:solidFill>
                <a:latin typeface="Aptos"/>
              </a:rPr>
              <a:t>FastAPI</a:t>
            </a:r>
            <a:r>
              <a:rPr sz="1500" b="0">
                <a:solidFill>
                  <a:srgbClr val="667085"/>
                </a:solidFill>
                <a:latin typeface="Aptos"/>
              </a:rPr>
              <a:t>  +  </a:t>
            </a:r>
            <a:r>
              <a:rPr sz="1500" b="1">
                <a:solidFill>
                  <a:srgbClr val="FFFFFF"/>
                </a:solidFill>
                <a:latin typeface="Aptos"/>
              </a:rPr>
              <a:t>Streamlit</a:t>
            </a:r>
            <a:r>
              <a:rPr sz="1500" b="0">
                <a:solidFill>
                  <a:srgbClr val="667085"/>
                </a:solidFill>
                <a:latin typeface="Aptos"/>
              </a:rPr>
              <a:t>  +  </a:t>
            </a:r>
            <a:r>
              <a:rPr sz="1500" b="1">
                <a:solidFill>
                  <a:srgbClr val="FFFFFF"/>
                </a:solidFill>
                <a:latin typeface="Aptos"/>
              </a:rPr>
              <a:t>Ollama</a:t>
            </a:r>
            <a:r>
              <a:rPr sz="1500" b="0">
                <a:solidFill>
                  <a:srgbClr val="667085"/>
                </a:solidFill>
                <a:latin typeface="Aptos"/>
              </a:rPr>
              <a:t>  +  </a:t>
            </a:r>
            <a:r>
              <a:rPr sz="1500" b="1">
                <a:solidFill>
                  <a:srgbClr val="FFFFFF"/>
                </a:solidFill>
                <a:latin typeface="Aptos"/>
              </a:rPr>
              <a:t>Qdrant</a:t>
            </a:r>
            <a:r>
              <a:rPr sz="1500" b="0">
                <a:solidFill>
                  <a:srgbClr val="667085"/>
                </a:solidFill>
                <a:latin typeface="Aptos"/>
              </a:rPr>
              <a:t>  +  </a:t>
            </a:r>
            <a:r>
              <a:rPr sz="1500" b="1">
                <a:solidFill>
                  <a:srgbClr val="FFFFFF"/>
                </a:solidFill>
                <a:latin typeface="Aptos"/>
              </a:rPr>
              <a:t>SQLite / OKF</a:t>
            </a:r>
          </a:p>
        </p:txBody>
      </p:sp>
      <p:sp>
        <p:nvSpPr>
          <p:cNvPr id="10" name="TextBox 9"/>
          <p:cNvSpPr txBox="1"/>
          <p:nvPr/>
        </p:nvSpPr>
        <p:spPr>
          <a:xfrm>
            <a:off x="768096" y="6053328"/>
            <a:ext cx="7498079" cy="274320"/>
          </a:xfrm>
          <a:prstGeom prst="rect">
            <a:avLst/>
          </a:prstGeom>
          <a:noFill/>
        </p:spPr>
        <p:txBody>
          <a:bodyPr wrap="square" lIns="36576" rIns="36576" tIns="36576" bIns="36576" anchor="t">
            <a:spAutoFit/>
          </a:bodyPr>
          <a:lstStyle/>
          <a:p>
            <a:pPr algn="l">
              <a:defRPr sz="1200" b="0">
                <a:solidFill>
                  <a:srgbClr val="94A3B8"/>
                </a:solidFill>
                <a:latin typeface="Aptos"/>
              </a:defRPr>
            </a:pPr>
            <a:r>
              <a:t>Architecture • Setup • Demo • Operations • FAQ</a:t>
            </a:r>
          </a:p>
        </p:txBody>
      </p:sp>
      <p:sp>
        <p:nvSpPr>
          <p:cNvPr id="11" name="TextBox 10"/>
          <p:cNvSpPr txBox="1"/>
          <p:nvPr/>
        </p:nvSpPr>
        <p:spPr>
          <a:xfrm>
            <a:off x="10927080" y="6446520"/>
            <a:ext cx="640080" cy="182880"/>
          </a:xfrm>
          <a:prstGeom prst="rect">
            <a:avLst/>
          </a:prstGeom>
          <a:noFill/>
        </p:spPr>
        <p:txBody>
          <a:bodyPr wrap="square" lIns="36576" rIns="36576" tIns="36576" bIns="36576" anchor="t">
            <a:spAutoFit/>
          </a:bodyPr>
          <a:lstStyle/>
          <a:p>
            <a:pPr algn="r">
              <a:defRPr sz="850" b="0">
                <a:solidFill>
                  <a:srgbClr val="94A3B8"/>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EXECUTIVE SUMMARY</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The whole system in one minute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a:t>
            </a:r>
          </a:p>
        </p:txBody>
      </p:sp>
      <p:sp>
        <p:nvSpPr>
          <p:cNvPr id="7" name="Rounded Rectangle 6"/>
          <p:cNvSpPr/>
          <p:nvPr/>
        </p:nvSpPr>
        <p:spPr>
          <a:xfrm>
            <a:off x="640080" y="1508760"/>
            <a:ext cx="3429000" cy="3520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08760"/>
            <a:ext cx="73152" cy="3520440"/>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1709928"/>
            <a:ext cx="420624" cy="420624"/>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3736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1" name="TextBox 10"/>
          <p:cNvSpPr txBox="1"/>
          <p:nvPr/>
        </p:nvSpPr>
        <p:spPr>
          <a:xfrm>
            <a:off x="1389888" y="1709928"/>
            <a:ext cx="24963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1. Upload</a:t>
            </a:r>
          </a:p>
        </p:txBody>
      </p:sp>
      <p:sp>
        <p:nvSpPr>
          <p:cNvPr id="12" name="TextBox 11"/>
          <p:cNvSpPr txBox="1"/>
          <p:nvPr/>
        </p:nvSpPr>
        <p:spPr>
          <a:xfrm>
            <a:off x="896112" y="2203704"/>
            <a:ext cx="2935224" cy="2697480"/>
          </a:xfrm>
          <a:prstGeom prst="rect">
            <a:avLst/>
          </a:prstGeom>
          <a:noFill/>
        </p:spPr>
        <p:txBody>
          <a:bodyPr wrap="square" lIns="36576" rIns="36576" tIns="36576" bIns="36576" anchor="t">
            <a:spAutoFit/>
          </a:bodyPr>
          <a:lstStyle/>
          <a:p>
            <a:pPr algn="l">
              <a:defRPr sz="1600" b="0">
                <a:solidFill>
                  <a:srgbClr val="667085"/>
                </a:solidFill>
                <a:latin typeface="Aptos"/>
              </a:defRPr>
            </a:pPr>
            <a:r>
              <a:t>A user selects a PDF, Word file, presentation, spreadsheet, HTML, text, or Markdown file. The system validates and converts it into clean, searchable knowledge.</a:t>
            </a:r>
          </a:p>
        </p:txBody>
      </p:sp>
      <p:sp>
        <p:nvSpPr>
          <p:cNvPr id="13" name="Rounded Rectangle 12"/>
          <p:cNvSpPr/>
          <p:nvPr/>
        </p:nvSpPr>
        <p:spPr>
          <a:xfrm>
            <a:off x="4370832" y="1508760"/>
            <a:ext cx="3429000" cy="3520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508760"/>
            <a:ext cx="73152" cy="35204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90288" y="1709928"/>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173736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7" name="TextBox 16"/>
          <p:cNvSpPr txBox="1"/>
          <p:nvPr/>
        </p:nvSpPr>
        <p:spPr>
          <a:xfrm>
            <a:off x="5120640" y="1709928"/>
            <a:ext cx="24963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2. Ask</a:t>
            </a:r>
          </a:p>
        </p:txBody>
      </p:sp>
      <p:sp>
        <p:nvSpPr>
          <p:cNvPr id="18" name="TextBox 17"/>
          <p:cNvSpPr txBox="1"/>
          <p:nvPr/>
        </p:nvSpPr>
        <p:spPr>
          <a:xfrm>
            <a:off x="4626864" y="2203704"/>
            <a:ext cx="2935224" cy="2697480"/>
          </a:xfrm>
          <a:prstGeom prst="rect">
            <a:avLst/>
          </a:prstGeom>
          <a:noFill/>
        </p:spPr>
        <p:txBody>
          <a:bodyPr wrap="square" lIns="36576" rIns="36576" tIns="36576" bIns="36576" anchor="t">
            <a:spAutoFit/>
          </a:bodyPr>
          <a:lstStyle/>
          <a:p>
            <a:pPr algn="l">
              <a:defRPr sz="1600" b="0">
                <a:solidFill>
                  <a:srgbClr val="667085"/>
                </a:solidFill>
                <a:latin typeface="Aptos"/>
              </a:defRPr>
            </a:pPr>
            <a:r>
              <a:t>The user asks a normal question. The system understands intent, searches by meaning and exact words, checks the evidence, and may retry once if coverage is weak.</a:t>
            </a:r>
          </a:p>
        </p:txBody>
      </p:sp>
      <p:sp>
        <p:nvSpPr>
          <p:cNvPr id="19" name="Rounded Rectangle 18"/>
          <p:cNvSpPr/>
          <p:nvPr/>
        </p:nvSpPr>
        <p:spPr>
          <a:xfrm>
            <a:off x="8101583" y="1508760"/>
            <a:ext cx="3429000" cy="3520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3" y="1508760"/>
            <a:ext cx="73152" cy="352044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1709928"/>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0183" y="173736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23" name="TextBox 22"/>
          <p:cNvSpPr txBox="1"/>
          <p:nvPr/>
        </p:nvSpPr>
        <p:spPr>
          <a:xfrm>
            <a:off x="8851392" y="1709928"/>
            <a:ext cx="24963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3. Verify</a:t>
            </a:r>
          </a:p>
        </p:txBody>
      </p:sp>
      <p:sp>
        <p:nvSpPr>
          <p:cNvPr id="24" name="TextBox 23"/>
          <p:cNvSpPr txBox="1"/>
          <p:nvPr/>
        </p:nvSpPr>
        <p:spPr>
          <a:xfrm>
            <a:off x="8357615" y="2203704"/>
            <a:ext cx="2935224" cy="2697480"/>
          </a:xfrm>
          <a:prstGeom prst="rect">
            <a:avLst/>
          </a:prstGeom>
          <a:noFill/>
        </p:spPr>
        <p:txBody>
          <a:bodyPr wrap="square" lIns="36576" rIns="36576" tIns="36576" bIns="36576" anchor="t">
            <a:spAutoFit/>
          </a:bodyPr>
          <a:lstStyle/>
          <a:p>
            <a:pPr algn="l">
              <a:defRPr sz="1600" b="0">
                <a:solidFill>
                  <a:srgbClr val="667085"/>
                </a:solidFill>
                <a:latin typeface="Aptos"/>
              </a:defRPr>
            </a:pPr>
            <a:r>
              <a:t>The answer is grounded only in indexed evidence. Confidence, citations, source passages, latency, retrieval rounds, and traces remain visible for inspection.</a:t>
            </a:r>
          </a:p>
        </p:txBody>
      </p:sp>
      <p:sp>
        <p:nvSpPr>
          <p:cNvPr id="25" name="Rounded Rectangle 24"/>
          <p:cNvSpPr/>
          <p:nvPr/>
        </p:nvSpPr>
        <p:spPr>
          <a:xfrm>
            <a:off x="960120" y="5532120"/>
            <a:ext cx="1024128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4712" y="5660136"/>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27" name="TextBox 26"/>
          <p:cNvSpPr txBox="1"/>
          <p:nvPr/>
        </p:nvSpPr>
        <p:spPr>
          <a:xfrm>
            <a:off x="2084832" y="5632704"/>
            <a:ext cx="89611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It is not a general chatbot: it is a question-answering layer over approved local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PROBLEM AND VALUE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Why this exists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3</a:t>
            </a:r>
          </a:p>
        </p:txBody>
      </p:sp>
      <p:sp>
        <p:nvSpPr>
          <p:cNvPr id="7" name="TextBox 6"/>
          <p:cNvSpPr txBox="1"/>
          <p:nvPr/>
        </p:nvSpPr>
        <p:spPr>
          <a:xfrm>
            <a:off x="713232" y="1536192"/>
            <a:ext cx="3200400" cy="365760"/>
          </a:xfrm>
          <a:prstGeom prst="rect">
            <a:avLst/>
          </a:prstGeom>
          <a:noFill/>
        </p:spPr>
        <p:txBody>
          <a:bodyPr wrap="square" lIns="36576" rIns="36576" tIns="36576" bIns="36576" anchor="t">
            <a:spAutoFit/>
          </a:bodyPr>
          <a:lstStyle/>
          <a:p>
            <a:pPr algn="l">
              <a:defRPr sz="2000" b="1">
                <a:solidFill>
                  <a:srgbClr val="172033"/>
                </a:solidFill>
                <a:latin typeface="Aptos"/>
              </a:defRPr>
            </a:pPr>
            <a:r>
              <a:t>The document problem</a:t>
            </a:r>
          </a:p>
        </p:txBody>
      </p:sp>
      <p:sp>
        <p:nvSpPr>
          <p:cNvPr id="8" name="TextBox 7"/>
          <p:cNvSpPr txBox="1"/>
          <p:nvPr/>
        </p:nvSpPr>
        <p:spPr>
          <a:xfrm>
            <a:off x="713232" y="1965960"/>
            <a:ext cx="5074920" cy="2651760"/>
          </a:xfrm>
          <a:prstGeom prst="rect">
            <a:avLst/>
          </a:prstGeom>
          <a:noFill/>
        </p:spPr>
        <p:txBody>
          <a:bodyPr wrap="square" lIns="73152" rIns="36576">
            <a:spAutoFit/>
          </a:bodyPr>
          <a:lstStyle/>
          <a:p>
            <a:pPr>
              <a:spcAft>
                <a:spcPts val="700"/>
              </a:spcAft>
              <a:defRPr sz="1700">
                <a:solidFill>
                  <a:srgbClr val="172033"/>
                </a:solidFill>
                <a:latin typeface="Aptos"/>
              </a:defRPr>
            </a:pPr>
            <a:r>
              <a:t>•  Long documents are slow to search manually</a:t>
            </a:r>
          </a:p>
          <a:p>
            <a:pPr>
              <a:spcAft>
                <a:spcPts val="700"/>
              </a:spcAft>
              <a:defRPr sz="1700">
                <a:solidFill>
                  <a:srgbClr val="172033"/>
                </a:solidFill>
                <a:latin typeface="Aptos"/>
              </a:defRPr>
            </a:pPr>
            <a:r>
              <a:t>•  Exact terms and semantic meaning both matter</a:t>
            </a:r>
          </a:p>
          <a:p>
            <a:pPr>
              <a:spcAft>
                <a:spcPts val="700"/>
              </a:spcAft>
              <a:defRPr sz="1700">
                <a:solidFill>
                  <a:srgbClr val="172033"/>
                </a:solidFill>
                <a:latin typeface="Aptos"/>
              </a:defRPr>
            </a:pPr>
            <a:r>
              <a:t>•  A normal chatbot may invent or use outside knowledge</a:t>
            </a:r>
          </a:p>
          <a:p>
            <a:pPr>
              <a:spcAft>
                <a:spcPts val="700"/>
              </a:spcAft>
              <a:defRPr sz="1700">
                <a:solidFill>
                  <a:srgbClr val="172033"/>
                </a:solidFill>
                <a:latin typeface="Aptos"/>
              </a:defRPr>
            </a:pPr>
            <a:r>
              <a:t>•  Teams need traceable answers, not unexplained confidence</a:t>
            </a:r>
          </a:p>
        </p:txBody>
      </p:sp>
      <p:sp>
        <p:nvSpPr>
          <p:cNvPr id="9" name="TextBox 8"/>
          <p:cNvSpPr txBox="1"/>
          <p:nvPr/>
        </p:nvSpPr>
        <p:spPr>
          <a:xfrm>
            <a:off x="6291072" y="1536192"/>
            <a:ext cx="3200400" cy="365760"/>
          </a:xfrm>
          <a:prstGeom prst="rect">
            <a:avLst/>
          </a:prstGeom>
          <a:noFill/>
        </p:spPr>
        <p:txBody>
          <a:bodyPr wrap="square" lIns="36576" rIns="36576" tIns="36576" bIns="36576" anchor="t">
            <a:spAutoFit/>
          </a:bodyPr>
          <a:lstStyle/>
          <a:p>
            <a:pPr algn="l">
              <a:defRPr sz="2000" b="1">
                <a:solidFill>
                  <a:srgbClr val="172033"/>
                </a:solidFill>
                <a:latin typeface="Aptos"/>
              </a:defRPr>
            </a:pPr>
            <a:r>
              <a:t>The AUSM response</a:t>
            </a:r>
          </a:p>
        </p:txBody>
      </p:sp>
      <p:sp>
        <p:nvSpPr>
          <p:cNvPr id="10" name="TextBox 9"/>
          <p:cNvSpPr txBox="1"/>
          <p:nvPr/>
        </p:nvSpPr>
        <p:spPr>
          <a:xfrm>
            <a:off x="6291072" y="1965960"/>
            <a:ext cx="5120640" cy="2926080"/>
          </a:xfrm>
          <a:prstGeom prst="rect">
            <a:avLst/>
          </a:prstGeom>
          <a:noFill/>
        </p:spPr>
        <p:txBody>
          <a:bodyPr wrap="square" lIns="73152" rIns="36576">
            <a:spAutoFit/>
          </a:bodyPr>
          <a:lstStyle/>
          <a:p>
            <a:pPr>
              <a:spcAft>
                <a:spcPts val="700"/>
              </a:spcAft>
              <a:defRPr sz="1700">
                <a:solidFill>
                  <a:srgbClr val="172033"/>
                </a:solidFill>
                <a:latin typeface="Aptos"/>
              </a:defRPr>
            </a:pPr>
            <a:r>
              <a:t>•  Local inference and local storage by default</a:t>
            </a:r>
          </a:p>
          <a:p>
            <a:pPr>
              <a:spcAft>
                <a:spcPts val="700"/>
              </a:spcAft>
              <a:defRPr sz="1700">
                <a:solidFill>
                  <a:srgbClr val="172033"/>
                </a:solidFill>
                <a:latin typeface="Aptos"/>
              </a:defRPr>
            </a:pPr>
            <a:r>
              <a:t>•  Hybrid dense + sparse retrieval</a:t>
            </a:r>
          </a:p>
          <a:p>
            <a:pPr>
              <a:spcAft>
                <a:spcPts val="700"/>
              </a:spcAft>
              <a:defRPr sz="1700">
                <a:solidFill>
                  <a:srgbClr val="172033"/>
                </a:solidFill>
                <a:latin typeface="Aptos"/>
              </a:defRPr>
            </a:pPr>
            <a:r>
              <a:t>•  Evidence sufficiency gate and supported no-answer</a:t>
            </a:r>
          </a:p>
          <a:p>
            <a:pPr>
              <a:spcAft>
                <a:spcPts val="700"/>
              </a:spcAft>
              <a:defRPr sz="1700">
                <a:solidFill>
                  <a:srgbClr val="172033"/>
                </a:solidFill>
                <a:latin typeface="Aptos"/>
              </a:defRPr>
            </a:pPr>
            <a:r>
              <a:t>•  Numbered citations plus exact source chunks</a:t>
            </a:r>
          </a:p>
          <a:p>
            <a:pPr>
              <a:spcAft>
                <a:spcPts val="700"/>
              </a:spcAft>
              <a:defRPr sz="1700">
                <a:solidFill>
                  <a:srgbClr val="172033"/>
                </a:solidFill>
                <a:latin typeface="Aptos"/>
              </a:defRPr>
            </a:pPr>
            <a:r>
              <a:t>•  Operational traces and analytics</a:t>
            </a:r>
          </a:p>
        </p:txBody>
      </p:sp>
      <p:sp>
        <p:nvSpPr>
          <p:cNvPr id="11" name="Rounded Rectangle 10"/>
          <p:cNvSpPr/>
          <p:nvPr/>
        </p:nvSpPr>
        <p:spPr>
          <a:xfrm>
            <a:off x="1828800" y="5559552"/>
            <a:ext cx="8549640" cy="530352"/>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93392" y="5687568"/>
            <a:ext cx="960120" cy="228600"/>
          </a:xfrm>
          <a:prstGeom prst="rect">
            <a:avLst/>
          </a:prstGeom>
          <a:noFill/>
        </p:spPr>
        <p:txBody>
          <a:bodyPr wrap="square" lIns="36576" rIns="36576" tIns="36576" bIns="36576" anchor="t">
            <a:spAutoFit/>
          </a:bodyPr>
          <a:lstStyle/>
          <a:p>
            <a:pPr algn="l">
              <a:defRPr sz="900" b="1">
                <a:solidFill>
                  <a:srgbClr val="13795B"/>
                </a:solidFill>
                <a:latin typeface="Aptos"/>
              </a:defRPr>
            </a:pPr>
            <a:r>
              <a:t>TAKEAWAY</a:t>
            </a:r>
          </a:p>
        </p:txBody>
      </p:sp>
      <p:sp>
        <p:nvSpPr>
          <p:cNvPr id="13" name="TextBox 12"/>
          <p:cNvSpPr txBox="1"/>
          <p:nvPr/>
        </p:nvSpPr>
        <p:spPr>
          <a:xfrm>
            <a:off x="2953512" y="5660136"/>
            <a:ext cx="726947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Core promise: faster answers without giving up provenance or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PRODUCT EXPERIENCE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What a user actually does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4</a:t>
            </a:r>
          </a:p>
        </p:txBody>
      </p:sp>
      <p:sp>
        <p:nvSpPr>
          <p:cNvPr id="7" name="Rounded Rectangle 6"/>
          <p:cNvSpPr/>
          <p:nvPr/>
        </p:nvSpPr>
        <p:spPr>
          <a:xfrm>
            <a:off x="621792" y="1645920"/>
            <a:ext cx="1967788"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0664" y="1764792"/>
            <a:ext cx="310896" cy="310896"/>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01368"/>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1</a:t>
            </a:r>
          </a:p>
        </p:txBody>
      </p:sp>
      <p:sp>
        <p:nvSpPr>
          <p:cNvPr id="10" name="TextBox 9"/>
          <p:cNvSpPr txBox="1"/>
          <p:nvPr/>
        </p:nvSpPr>
        <p:spPr>
          <a:xfrm>
            <a:off x="1124712" y="1764792"/>
            <a:ext cx="1373428" cy="274320"/>
          </a:xfrm>
          <a:prstGeom prst="rect">
            <a:avLst/>
          </a:prstGeom>
          <a:noFill/>
        </p:spPr>
        <p:txBody>
          <a:bodyPr wrap="square" lIns="36576" rIns="36576" tIns="36576" bIns="36576" anchor="t">
            <a:spAutoFit/>
          </a:bodyPr>
          <a:lstStyle/>
          <a:p>
            <a:pPr algn="l">
              <a:defRPr sz="1200" b="1">
                <a:solidFill>
                  <a:srgbClr val="172033"/>
                </a:solidFill>
                <a:latin typeface="Aptos"/>
              </a:defRPr>
            </a:pPr>
            <a:r>
              <a:t>Open Library</a:t>
            </a:r>
          </a:p>
        </p:txBody>
      </p:sp>
      <p:sp>
        <p:nvSpPr>
          <p:cNvPr id="11" name="TextBox 10"/>
          <p:cNvSpPr txBox="1"/>
          <p:nvPr/>
        </p:nvSpPr>
        <p:spPr>
          <a:xfrm>
            <a:off x="749808" y="2139696"/>
            <a:ext cx="1730044" cy="685800"/>
          </a:xfrm>
          <a:prstGeom prst="rect">
            <a:avLst/>
          </a:prstGeom>
          <a:noFill/>
        </p:spPr>
        <p:txBody>
          <a:bodyPr wrap="square" lIns="36576" rIns="36576" tIns="36576" bIns="36576" anchor="t">
            <a:spAutoFit/>
          </a:bodyPr>
          <a:lstStyle/>
          <a:p>
            <a:pPr algn="l">
              <a:defRPr sz="1050" b="0">
                <a:solidFill>
                  <a:srgbClr val="667085"/>
                </a:solidFill>
                <a:latin typeface="Aptos"/>
              </a:defRPr>
            </a:pPr>
            <a:r>
              <a:t>Choose one or several supported files</a:t>
            </a:r>
          </a:p>
        </p:txBody>
      </p:sp>
      <p:sp>
        <p:nvSpPr>
          <p:cNvPr id="12" name="TextBox 11"/>
          <p:cNvSpPr txBox="1"/>
          <p:nvPr/>
        </p:nvSpPr>
        <p:spPr>
          <a:xfrm>
            <a:off x="2589580" y="1947672"/>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3" name="Rounded Rectangle 12"/>
          <p:cNvSpPr/>
          <p:nvPr/>
        </p:nvSpPr>
        <p:spPr>
          <a:xfrm>
            <a:off x="2873044" y="1645920"/>
            <a:ext cx="1967788"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1916" y="1764792"/>
            <a:ext cx="310896" cy="310896"/>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1060" y="1801368"/>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2</a:t>
            </a:r>
          </a:p>
        </p:txBody>
      </p:sp>
      <p:sp>
        <p:nvSpPr>
          <p:cNvPr id="16" name="TextBox 15"/>
          <p:cNvSpPr txBox="1"/>
          <p:nvPr/>
        </p:nvSpPr>
        <p:spPr>
          <a:xfrm>
            <a:off x="3375964" y="1764792"/>
            <a:ext cx="1373428" cy="274320"/>
          </a:xfrm>
          <a:prstGeom prst="rect">
            <a:avLst/>
          </a:prstGeom>
          <a:noFill/>
        </p:spPr>
        <p:txBody>
          <a:bodyPr wrap="square" lIns="36576" rIns="36576" tIns="36576" bIns="36576" anchor="t">
            <a:spAutoFit/>
          </a:bodyPr>
          <a:lstStyle/>
          <a:p>
            <a:pPr algn="l">
              <a:defRPr sz="1200" b="1">
                <a:solidFill>
                  <a:srgbClr val="172033"/>
                </a:solidFill>
                <a:latin typeface="Aptos"/>
              </a:defRPr>
            </a:pPr>
            <a:r>
              <a:t>Upload</a:t>
            </a:r>
          </a:p>
        </p:txBody>
      </p:sp>
      <p:sp>
        <p:nvSpPr>
          <p:cNvPr id="17" name="TextBox 16"/>
          <p:cNvSpPr txBox="1"/>
          <p:nvPr/>
        </p:nvSpPr>
        <p:spPr>
          <a:xfrm>
            <a:off x="3001060" y="2139696"/>
            <a:ext cx="1730044" cy="685800"/>
          </a:xfrm>
          <a:prstGeom prst="rect">
            <a:avLst/>
          </a:prstGeom>
          <a:noFill/>
        </p:spPr>
        <p:txBody>
          <a:bodyPr wrap="square" lIns="36576" rIns="36576" tIns="36576" bIns="36576" anchor="t">
            <a:spAutoFit/>
          </a:bodyPr>
          <a:lstStyle/>
          <a:p>
            <a:pPr algn="l">
              <a:defRPr sz="1050" b="0">
                <a:solidFill>
                  <a:srgbClr val="667085"/>
                </a:solidFill>
                <a:latin typeface="Aptos"/>
              </a:defRPr>
            </a:pPr>
            <a:r>
              <a:t>Wait for validation, conversion, chunking, and indexing</a:t>
            </a:r>
          </a:p>
        </p:txBody>
      </p:sp>
      <p:sp>
        <p:nvSpPr>
          <p:cNvPr id="18" name="TextBox 17"/>
          <p:cNvSpPr txBox="1"/>
          <p:nvPr/>
        </p:nvSpPr>
        <p:spPr>
          <a:xfrm>
            <a:off x="4840833" y="1947672"/>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9" name="Rounded Rectangle 18"/>
          <p:cNvSpPr/>
          <p:nvPr/>
        </p:nvSpPr>
        <p:spPr>
          <a:xfrm>
            <a:off x="5124297" y="1645920"/>
            <a:ext cx="1967788"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43169" y="1764792"/>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2313" y="1801368"/>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3</a:t>
            </a:r>
          </a:p>
        </p:txBody>
      </p:sp>
      <p:sp>
        <p:nvSpPr>
          <p:cNvPr id="22" name="TextBox 21"/>
          <p:cNvSpPr txBox="1"/>
          <p:nvPr/>
        </p:nvSpPr>
        <p:spPr>
          <a:xfrm>
            <a:off x="5627217" y="1764792"/>
            <a:ext cx="1373428" cy="274320"/>
          </a:xfrm>
          <a:prstGeom prst="rect">
            <a:avLst/>
          </a:prstGeom>
          <a:noFill/>
        </p:spPr>
        <p:txBody>
          <a:bodyPr wrap="square" lIns="36576" rIns="36576" tIns="36576" bIns="36576" anchor="t">
            <a:spAutoFit/>
          </a:bodyPr>
          <a:lstStyle/>
          <a:p>
            <a:pPr algn="l">
              <a:defRPr sz="1200" b="1">
                <a:solidFill>
                  <a:srgbClr val="172033"/>
                </a:solidFill>
                <a:latin typeface="Aptos"/>
              </a:defRPr>
            </a:pPr>
            <a:r>
              <a:t>Open Ask</a:t>
            </a:r>
          </a:p>
        </p:txBody>
      </p:sp>
      <p:sp>
        <p:nvSpPr>
          <p:cNvPr id="23" name="TextBox 22"/>
          <p:cNvSpPr txBox="1"/>
          <p:nvPr/>
        </p:nvSpPr>
        <p:spPr>
          <a:xfrm>
            <a:off x="5252313" y="2139696"/>
            <a:ext cx="1730044" cy="685800"/>
          </a:xfrm>
          <a:prstGeom prst="rect">
            <a:avLst/>
          </a:prstGeom>
          <a:noFill/>
        </p:spPr>
        <p:txBody>
          <a:bodyPr wrap="square" lIns="36576" rIns="36576" tIns="36576" bIns="36576" anchor="t">
            <a:spAutoFit/>
          </a:bodyPr>
          <a:lstStyle/>
          <a:p>
            <a:pPr algn="l">
              <a:defRPr sz="1050" b="0">
                <a:solidFill>
                  <a:srgbClr val="667085"/>
                </a:solidFill>
                <a:latin typeface="Aptos"/>
              </a:defRPr>
            </a:pPr>
            <a:r>
              <a:t>Use the same conversation ID for follow-ups</a:t>
            </a:r>
          </a:p>
        </p:txBody>
      </p:sp>
      <p:sp>
        <p:nvSpPr>
          <p:cNvPr id="24" name="TextBox 23"/>
          <p:cNvSpPr txBox="1"/>
          <p:nvPr/>
        </p:nvSpPr>
        <p:spPr>
          <a:xfrm>
            <a:off x="7092086" y="1947672"/>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25" name="Rounded Rectangle 24"/>
          <p:cNvSpPr/>
          <p:nvPr/>
        </p:nvSpPr>
        <p:spPr>
          <a:xfrm>
            <a:off x="7375550" y="1645920"/>
            <a:ext cx="1967788"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94422" y="1764792"/>
            <a:ext cx="310896" cy="310896"/>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3566" y="1801368"/>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4</a:t>
            </a:r>
          </a:p>
        </p:txBody>
      </p:sp>
      <p:sp>
        <p:nvSpPr>
          <p:cNvPr id="28" name="TextBox 27"/>
          <p:cNvSpPr txBox="1"/>
          <p:nvPr/>
        </p:nvSpPr>
        <p:spPr>
          <a:xfrm>
            <a:off x="7878470" y="1764792"/>
            <a:ext cx="1373428" cy="274320"/>
          </a:xfrm>
          <a:prstGeom prst="rect">
            <a:avLst/>
          </a:prstGeom>
          <a:noFill/>
        </p:spPr>
        <p:txBody>
          <a:bodyPr wrap="square" lIns="36576" rIns="36576" tIns="36576" bIns="36576" anchor="t">
            <a:spAutoFit/>
          </a:bodyPr>
          <a:lstStyle/>
          <a:p>
            <a:pPr algn="l">
              <a:defRPr sz="1200" b="1">
                <a:solidFill>
                  <a:srgbClr val="172033"/>
                </a:solidFill>
                <a:latin typeface="Aptos"/>
              </a:defRPr>
            </a:pPr>
            <a:r>
              <a:t>Read answer</a:t>
            </a:r>
          </a:p>
        </p:txBody>
      </p:sp>
      <p:sp>
        <p:nvSpPr>
          <p:cNvPr id="29" name="TextBox 28"/>
          <p:cNvSpPr txBox="1"/>
          <p:nvPr/>
        </p:nvSpPr>
        <p:spPr>
          <a:xfrm>
            <a:off x="7503566" y="2139696"/>
            <a:ext cx="1730044" cy="685800"/>
          </a:xfrm>
          <a:prstGeom prst="rect">
            <a:avLst/>
          </a:prstGeom>
          <a:noFill/>
        </p:spPr>
        <p:txBody>
          <a:bodyPr wrap="square" lIns="36576" rIns="36576" tIns="36576" bIns="36576" anchor="t">
            <a:spAutoFit/>
          </a:bodyPr>
          <a:lstStyle/>
          <a:p>
            <a:pPr algn="l">
              <a:defRPr sz="1050" b="0">
                <a:solidFill>
                  <a:srgbClr val="667085"/>
                </a:solidFill>
                <a:latin typeface="Aptos"/>
              </a:defRPr>
            </a:pPr>
            <a:r>
              <a:t>Check confidence and cited evidence</a:t>
            </a:r>
          </a:p>
        </p:txBody>
      </p:sp>
      <p:sp>
        <p:nvSpPr>
          <p:cNvPr id="30" name="TextBox 29"/>
          <p:cNvSpPr txBox="1"/>
          <p:nvPr/>
        </p:nvSpPr>
        <p:spPr>
          <a:xfrm>
            <a:off x="9343339" y="1947672"/>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31" name="Rounded Rectangle 30"/>
          <p:cNvSpPr/>
          <p:nvPr/>
        </p:nvSpPr>
        <p:spPr>
          <a:xfrm>
            <a:off x="9626803" y="1645920"/>
            <a:ext cx="1967788"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45675" y="1764792"/>
            <a:ext cx="310896" cy="3108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54819" y="1801368"/>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5</a:t>
            </a:r>
          </a:p>
        </p:txBody>
      </p:sp>
      <p:sp>
        <p:nvSpPr>
          <p:cNvPr id="34" name="TextBox 33"/>
          <p:cNvSpPr txBox="1"/>
          <p:nvPr/>
        </p:nvSpPr>
        <p:spPr>
          <a:xfrm>
            <a:off x="10129723" y="1764792"/>
            <a:ext cx="1373428" cy="274320"/>
          </a:xfrm>
          <a:prstGeom prst="rect">
            <a:avLst/>
          </a:prstGeom>
          <a:noFill/>
        </p:spPr>
        <p:txBody>
          <a:bodyPr wrap="square" lIns="36576" rIns="36576" tIns="36576" bIns="36576" anchor="t">
            <a:spAutoFit/>
          </a:bodyPr>
          <a:lstStyle/>
          <a:p>
            <a:pPr algn="l">
              <a:defRPr sz="1200" b="1">
                <a:solidFill>
                  <a:srgbClr val="172033"/>
                </a:solidFill>
                <a:latin typeface="Aptos"/>
              </a:defRPr>
            </a:pPr>
            <a:r>
              <a:t>Inspect</a:t>
            </a:r>
          </a:p>
        </p:txBody>
      </p:sp>
      <p:sp>
        <p:nvSpPr>
          <p:cNvPr id="35" name="TextBox 34"/>
          <p:cNvSpPr txBox="1"/>
          <p:nvPr/>
        </p:nvSpPr>
        <p:spPr>
          <a:xfrm>
            <a:off x="9754819" y="2139696"/>
            <a:ext cx="1730044" cy="685800"/>
          </a:xfrm>
          <a:prstGeom prst="rect">
            <a:avLst/>
          </a:prstGeom>
          <a:noFill/>
        </p:spPr>
        <p:txBody>
          <a:bodyPr wrap="square" lIns="36576" rIns="36576" tIns="36576" bIns="36576" anchor="t">
            <a:spAutoFit/>
          </a:bodyPr>
          <a:lstStyle/>
          <a:p>
            <a:pPr algn="l">
              <a:defRPr sz="1050" b="0">
                <a:solidFill>
                  <a:srgbClr val="667085"/>
                </a:solidFill>
                <a:latin typeface="Aptos"/>
              </a:defRPr>
            </a:pPr>
            <a:r>
              <a:t>Open trace, analytics, or document controls</a:t>
            </a:r>
          </a:p>
        </p:txBody>
      </p:sp>
      <p:sp>
        <p:nvSpPr>
          <p:cNvPr id="36" name="Rounded Rectangle 35"/>
          <p:cNvSpPr/>
          <p:nvPr/>
        </p:nvSpPr>
        <p:spPr>
          <a:xfrm>
            <a:off x="841248" y="3429000"/>
            <a:ext cx="3246120" cy="16002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429000"/>
            <a:ext cx="73152" cy="160020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3630168"/>
            <a:ext cx="278892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Good first question</a:t>
            </a:r>
          </a:p>
        </p:txBody>
      </p:sp>
      <p:sp>
        <p:nvSpPr>
          <p:cNvPr id="39" name="TextBox 38"/>
          <p:cNvSpPr txBox="1"/>
          <p:nvPr/>
        </p:nvSpPr>
        <p:spPr>
          <a:xfrm>
            <a:off x="1097280" y="4123944"/>
            <a:ext cx="2752344" cy="777240"/>
          </a:xfrm>
          <a:prstGeom prst="rect">
            <a:avLst/>
          </a:prstGeom>
          <a:noFill/>
        </p:spPr>
        <p:txBody>
          <a:bodyPr wrap="square" lIns="36576" rIns="36576" tIns="36576" bIns="36576" anchor="t">
            <a:spAutoFit/>
          </a:bodyPr>
          <a:lstStyle/>
          <a:p>
            <a:pPr algn="l">
              <a:defRPr sz="1400" b="0">
                <a:solidFill>
                  <a:srgbClr val="667085"/>
                </a:solidFill>
                <a:latin typeface="Aptos"/>
              </a:defRPr>
            </a:pPr>
            <a:r>
              <a:t>“Summarize the main ideas in this document.”</a:t>
            </a:r>
          </a:p>
        </p:txBody>
      </p:sp>
      <p:sp>
        <p:nvSpPr>
          <p:cNvPr id="40" name="Rounded Rectangle 39"/>
          <p:cNvSpPr/>
          <p:nvPr/>
        </p:nvSpPr>
        <p:spPr>
          <a:xfrm>
            <a:off x="4480560" y="3429000"/>
            <a:ext cx="3246120" cy="16002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80560" y="3429000"/>
            <a:ext cx="73152" cy="160020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36592" y="3630168"/>
            <a:ext cx="278892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Good precise question</a:t>
            </a:r>
          </a:p>
        </p:txBody>
      </p:sp>
      <p:sp>
        <p:nvSpPr>
          <p:cNvPr id="43" name="TextBox 42"/>
          <p:cNvSpPr txBox="1"/>
          <p:nvPr/>
        </p:nvSpPr>
        <p:spPr>
          <a:xfrm>
            <a:off x="4736592" y="4123944"/>
            <a:ext cx="2752344" cy="777240"/>
          </a:xfrm>
          <a:prstGeom prst="rect">
            <a:avLst/>
          </a:prstGeom>
          <a:noFill/>
        </p:spPr>
        <p:txBody>
          <a:bodyPr wrap="square" lIns="36576" rIns="36576" tIns="36576" bIns="36576" anchor="t">
            <a:spAutoFit/>
          </a:bodyPr>
          <a:lstStyle/>
          <a:p>
            <a:pPr algn="l">
              <a:defRPr sz="1400" b="0">
                <a:solidFill>
                  <a:srgbClr val="667085"/>
                </a:solidFill>
                <a:latin typeface="Aptos"/>
              </a:defRPr>
            </a:pPr>
            <a:r>
              <a:t>“What does error AUTH-0042 mean?”</a:t>
            </a:r>
          </a:p>
        </p:txBody>
      </p:sp>
      <p:sp>
        <p:nvSpPr>
          <p:cNvPr id="44" name="Rounded Rectangle 43"/>
          <p:cNvSpPr/>
          <p:nvPr/>
        </p:nvSpPr>
        <p:spPr>
          <a:xfrm>
            <a:off x="8119872" y="3429000"/>
            <a:ext cx="3246120" cy="16002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19872" y="3429000"/>
            <a:ext cx="73152" cy="1600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75904" y="3630168"/>
            <a:ext cx="278892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Good follow-up</a:t>
            </a:r>
          </a:p>
        </p:txBody>
      </p:sp>
      <p:sp>
        <p:nvSpPr>
          <p:cNvPr id="47" name="TextBox 46"/>
          <p:cNvSpPr txBox="1"/>
          <p:nvPr/>
        </p:nvSpPr>
        <p:spPr>
          <a:xfrm>
            <a:off x="8375904" y="4123944"/>
            <a:ext cx="2752344" cy="777240"/>
          </a:xfrm>
          <a:prstGeom prst="rect">
            <a:avLst/>
          </a:prstGeom>
          <a:noFill/>
        </p:spPr>
        <p:txBody>
          <a:bodyPr wrap="square" lIns="36576" rIns="36576" tIns="36576" bIns="36576" anchor="t">
            <a:spAutoFit/>
          </a:bodyPr>
          <a:lstStyle/>
          <a:p>
            <a:pPr algn="l">
              <a:defRPr sz="1400" b="0">
                <a:solidFill>
                  <a:srgbClr val="667085"/>
                </a:solidFill>
                <a:latin typeface="Aptos"/>
              </a:defRPr>
            </a:pPr>
            <a:r>
              <a:t>“How is that different for contractors?”</a:t>
            </a:r>
          </a:p>
        </p:txBody>
      </p:sp>
      <p:sp>
        <p:nvSpPr>
          <p:cNvPr id="48" name="Rounded Rectangle 47"/>
          <p:cNvSpPr/>
          <p:nvPr/>
        </p:nvSpPr>
        <p:spPr>
          <a:xfrm>
            <a:off x="960120" y="5532120"/>
            <a:ext cx="1024128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24712" y="5660136"/>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50" name="TextBox 49"/>
          <p:cNvSpPr txBox="1"/>
          <p:nvPr/>
        </p:nvSpPr>
        <p:spPr>
          <a:xfrm>
            <a:off x="2084832" y="5632704"/>
            <a:ext cx="89611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The Streamlit UI calls the same documented FastAPI endpoints—there is no hidden alternate logic.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WHAT RUNS WHERE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Local deployment architecture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5</a:t>
            </a:r>
          </a:p>
        </p:txBody>
      </p:sp>
      <p:sp>
        <p:nvSpPr>
          <p:cNvPr id="7" name="Rounded Rectangle 6"/>
          <p:cNvSpPr/>
          <p:nvPr/>
        </p:nvSpPr>
        <p:spPr>
          <a:xfrm>
            <a:off x="502920" y="1554480"/>
            <a:ext cx="2057400"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54480"/>
            <a:ext cx="73152" cy="1234440"/>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22376" y="1755648"/>
            <a:ext cx="420624" cy="420624"/>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1</a:t>
            </a:r>
          </a:p>
        </p:txBody>
      </p:sp>
      <p:sp>
        <p:nvSpPr>
          <p:cNvPr id="11" name="TextBox 10"/>
          <p:cNvSpPr txBox="1"/>
          <p:nvPr/>
        </p:nvSpPr>
        <p:spPr>
          <a:xfrm>
            <a:off x="1252728" y="1755648"/>
            <a:ext cx="11247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Browser</a:t>
            </a:r>
          </a:p>
        </p:txBody>
      </p:sp>
      <p:sp>
        <p:nvSpPr>
          <p:cNvPr id="12" name="TextBox 11"/>
          <p:cNvSpPr txBox="1"/>
          <p:nvPr/>
        </p:nvSpPr>
        <p:spPr>
          <a:xfrm>
            <a:off x="758952" y="2249424"/>
            <a:ext cx="1563624" cy="411480"/>
          </a:xfrm>
          <a:prstGeom prst="rect">
            <a:avLst/>
          </a:prstGeom>
          <a:noFill/>
        </p:spPr>
        <p:txBody>
          <a:bodyPr wrap="square" lIns="36576" rIns="36576" tIns="36576" bIns="36576" anchor="t">
            <a:spAutoFit/>
          </a:bodyPr>
          <a:lstStyle/>
          <a:p>
            <a:pPr algn="l">
              <a:defRPr sz="1400" b="0">
                <a:solidFill>
                  <a:srgbClr val="667085"/>
                </a:solidFill>
                <a:latin typeface="Aptos"/>
              </a:defRPr>
            </a:pPr>
            <a:r>
              <a:t>Streamlit UI</a:t>
            </a:r>
            <a:br/>
            <a:r>
              <a:t>localhost:8501</a:t>
            </a:r>
          </a:p>
        </p:txBody>
      </p:sp>
      <p:sp>
        <p:nvSpPr>
          <p:cNvPr id="13" name="TextBox 12"/>
          <p:cNvSpPr txBox="1"/>
          <p:nvPr/>
        </p:nvSpPr>
        <p:spPr>
          <a:xfrm>
            <a:off x="2624328" y="1938528"/>
            <a:ext cx="384048" cy="274320"/>
          </a:xfrm>
          <a:prstGeom prst="rect">
            <a:avLst/>
          </a:prstGeom>
          <a:noFill/>
        </p:spPr>
        <p:txBody>
          <a:bodyPr wrap="square" lIns="36576" rIns="36576" tIns="36576" bIns="36576" anchor="t">
            <a:spAutoFit/>
          </a:bodyPr>
          <a:lstStyle/>
          <a:p>
            <a:pPr algn="ctr">
              <a:defRPr sz="2400" b="1">
                <a:solidFill>
                  <a:srgbClr val="2F6FED"/>
                </a:solidFill>
                <a:latin typeface="Aptos"/>
              </a:defRPr>
            </a:pPr>
            <a:r>
              <a:t>→</a:t>
            </a:r>
          </a:p>
        </p:txBody>
      </p:sp>
      <p:sp>
        <p:nvSpPr>
          <p:cNvPr id="14" name="Rounded Rectangle 13"/>
          <p:cNvSpPr/>
          <p:nvPr/>
        </p:nvSpPr>
        <p:spPr>
          <a:xfrm>
            <a:off x="3035808" y="1554480"/>
            <a:ext cx="2148840"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35808" y="1554480"/>
            <a:ext cx="73152" cy="12344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55263" y="1755648"/>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64408" y="178308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2</a:t>
            </a:r>
          </a:p>
        </p:txBody>
      </p:sp>
      <p:sp>
        <p:nvSpPr>
          <p:cNvPr id="18" name="TextBox 17"/>
          <p:cNvSpPr txBox="1"/>
          <p:nvPr/>
        </p:nvSpPr>
        <p:spPr>
          <a:xfrm>
            <a:off x="3785615" y="1755648"/>
            <a:ext cx="12161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FastAPI</a:t>
            </a:r>
          </a:p>
        </p:txBody>
      </p:sp>
      <p:sp>
        <p:nvSpPr>
          <p:cNvPr id="19" name="TextBox 18"/>
          <p:cNvSpPr txBox="1"/>
          <p:nvPr/>
        </p:nvSpPr>
        <p:spPr>
          <a:xfrm>
            <a:off x="3291839" y="2249424"/>
            <a:ext cx="1655064" cy="411480"/>
          </a:xfrm>
          <a:prstGeom prst="rect">
            <a:avLst/>
          </a:prstGeom>
          <a:noFill/>
        </p:spPr>
        <p:txBody>
          <a:bodyPr wrap="square" lIns="36576" rIns="36576" tIns="36576" bIns="36576" anchor="t">
            <a:spAutoFit/>
          </a:bodyPr>
          <a:lstStyle/>
          <a:p>
            <a:pPr algn="l">
              <a:defRPr sz="1400" b="0">
                <a:solidFill>
                  <a:srgbClr val="667085"/>
                </a:solidFill>
                <a:latin typeface="Aptos"/>
              </a:defRPr>
            </a:pPr>
            <a:r>
              <a:t>REST + SSE</a:t>
            </a:r>
            <a:br/>
            <a:r>
              <a:t>localhost:8000</a:t>
            </a:r>
          </a:p>
        </p:txBody>
      </p:sp>
      <p:sp>
        <p:nvSpPr>
          <p:cNvPr id="20" name="TextBox 19"/>
          <p:cNvSpPr txBox="1"/>
          <p:nvPr/>
        </p:nvSpPr>
        <p:spPr>
          <a:xfrm>
            <a:off x="5257800" y="1938528"/>
            <a:ext cx="384048" cy="274320"/>
          </a:xfrm>
          <a:prstGeom prst="rect">
            <a:avLst/>
          </a:prstGeom>
          <a:noFill/>
        </p:spPr>
        <p:txBody>
          <a:bodyPr wrap="square" lIns="36576" rIns="36576" tIns="36576" bIns="36576" anchor="t">
            <a:spAutoFit/>
          </a:bodyPr>
          <a:lstStyle/>
          <a:p>
            <a:pPr algn="ctr">
              <a:defRPr sz="2400" b="1">
                <a:solidFill>
                  <a:srgbClr val="2F6FED"/>
                </a:solidFill>
                <a:latin typeface="Aptos"/>
              </a:defRPr>
            </a:pPr>
            <a:r>
              <a:t>→</a:t>
            </a:r>
          </a:p>
        </p:txBody>
      </p:sp>
      <p:sp>
        <p:nvSpPr>
          <p:cNvPr id="21" name="Rounded Rectangle 20"/>
          <p:cNvSpPr/>
          <p:nvPr/>
        </p:nvSpPr>
        <p:spPr>
          <a:xfrm>
            <a:off x="5669280" y="1554480"/>
            <a:ext cx="2057400"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0" y="1554480"/>
            <a:ext cx="73152" cy="12344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88736" y="1755648"/>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97880" y="178308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3</a:t>
            </a:r>
          </a:p>
        </p:txBody>
      </p:sp>
      <p:sp>
        <p:nvSpPr>
          <p:cNvPr id="25" name="TextBox 24"/>
          <p:cNvSpPr txBox="1"/>
          <p:nvPr/>
        </p:nvSpPr>
        <p:spPr>
          <a:xfrm>
            <a:off x="6419088" y="1755648"/>
            <a:ext cx="11247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Agents</a:t>
            </a:r>
          </a:p>
        </p:txBody>
      </p:sp>
      <p:sp>
        <p:nvSpPr>
          <p:cNvPr id="26" name="TextBox 25"/>
          <p:cNvSpPr txBox="1"/>
          <p:nvPr/>
        </p:nvSpPr>
        <p:spPr>
          <a:xfrm>
            <a:off x="5925312" y="2249424"/>
            <a:ext cx="1563624" cy="411480"/>
          </a:xfrm>
          <a:prstGeom prst="rect">
            <a:avLst/>
          </a:prstGeom>
          <a:noFill/>
        </p:spPr>
        <p:txBody>
          <a:bodyPr wrap="square" lIns="36576" rIns="36576" tIns="36576" bIns="36576" anchor="t">
            <a:spAutoFit/>
          </a:bodyPr>
          <a:lstStyle/>
          <a:p>
            <a:pPr algn="l">
              <a:defRPr sz="1250" b="0">
                <a:solidFill>
                  <a:srgbClr val="667085"/>
                </a:solidFill>
                <a:latin typeface="Aptos"/>
              </a:defRPr>
            </a:pPr>
            <a:r>
              <a:t>Analyze • plan • check • answer</a:t>
            </a:r>
          </a:p>
        </p:txBody>
      </p:sp>
      <p:sp>
        <p:nvSpPr>
          <p:cNvPr id="27" name="TextBox 26"/>
          <p:cNvSpPr txBox="1"/>
          <p:nvPr/>
        </p:nvSpPr>
        <p:spPr>
          <a:xfrm>
            <a:off x="7799831" y="1938528"/>
            <a:ext cx="384048" cy="274320"/>
          </a:xfrm>
          <a:prstGeom prst="rect">
            <a:avLst/>
          </a:prstGeom>
          <a:noFill/>
        </p:spPr>
        <p:txBody>
          <a:bodyPr wrap="square" lIns="36576" rIns="36576" tIns="36576" bIns="36576" anchor="t">
            <a:spAutoFit/>
          </a:bodyPr>
          <a:lstStyle/>
          <a:p>
            <a:pPr algn="ctr">
              <a:defRPr sz="2400" b="1">
                <a:solidFill>
                  <a:srgbClr val="2F6FED"/>
                </a:solidFill>
                <a:latin typeface="Aptos"/>
              </a:defRPr>
            </a:pPr>
            <a:r>
              <a:t>→</a:t>
            </a:r>
          </a:p>
        </p:txBody>
      </p:sp>
      <p:sp>
        <p:nvSpPr>
          <p:cNvPr id="28" name="Rounded Rectangle 27"/>
          <p:cNvSpPr/>
          <p:nvPr/>
        </p:nvSpPr>
        <p:spPr>
          <a:xfrm>
            <a:off x="8211312" y="1554480"/>
            <a:ext cx="3456432" cy="12344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11312" y="1554480"/>
            <a:ext cx="73152" cy="123444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30768" y="1755648"/>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39912" y="178308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4</a:t>
            </a:r>
          </a:p>
        </p:txBody>
      </p:sp>
      <p:sp>
        <p:nvSpPr>
          <p:cNvPr id="32" name="TextBox 31"/>
          <p:cNvSpPr txBox="1"/>
          <p:nvPr/>
        </p:nvSpPr>
        <p:spPr>
          <a:xfrm>
            <a:off x="8961120" y="1755648"/>
            <a:ext cx="2523744"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Local services</a:t>
            </a:r>
          </a:p>
        </p:txBody>
      </p:sp>
      <p:sp>
        <p:nvSpPr>
          <p:cNvPr id="33" name="TextBox 32"/>
          <p:cNvSpPr txBox="1"/>
          <p:nvPr/>
        </p:nvSpPr>
        <p:spPr>
          <a:xfrm>
            <a:off x="8467344" y="2249424"/>
            <a:ext cx="2962656" cy="411480"/>
          </a:xfrm>
          <a:prstGeom prst="rect">
            <a:avLst/>
          </a:prstGeom>
          <a:noFill/>
        </p:spPr>
        <p:txBody>
          <a:bodyPr wrap="square" lIns="36576" rIns="36576" tIns="36576" bIns="36576" anchor="t">
            <a:spAutoFit/>
          </a:bodyPr>
          <a:lstStyle/>
          <a:p>
            <a:pPr algn="l">
              <a:defRPr sz="1400" b="0">
                <a:solidFill>
                  <a:srgbClr val="667085"/>
                </a:solidFill>
                <a:latin typeface="Aptos"/>
              </a:defRPr>
            </a:pPr>
            <a:r>
              <a:t>Ollama :11434  •  Qdrant :6333</a:t>
            </a:r>
          </a:p>
        </p:txBody>
      </p:sp>
      <p:sp>
        <p:nvSpPr>
          <p:cNvPr id="34" name="Rounded Rectangle 33"/>
          <p:cNvSpPr/>
          <p:nvPr/>
        </p:nvSpPr>
        <p:spPr>
          <a:xfrm>
            <a:off x="914400" y="3657600"/>
            <a:ext cx="2971800" cy="13716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 y="3657600"/>
            <a:ext cx="73152"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0432" y="3858768"/>
            <a:ext cx="25146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Files + OKF</a:t>
            </a:r>
          </a:p>
        </p:txBody>
      </p:sp>
      <p:sp>
        <p:nvSpPr>
          <p:cNvPr id="37" name="TextBox 36"/>
          <p:cNvSpPr txBox="1"/>
          <p:nvPr/>
        </p:nvSpPr>
        <p:spPr>
          <a:xfrm>
            <a:off x="1170432" y="4352544"/>
            <a:ext cx="2478024" cy="548640"/>
          </a:xfrm>
          <a:prstGeom prst="rect">
            <a:avLst/>
          </a:prstGeom>
          <a:noFill/>
        </p:spPr>
        <p:txBody>
          <a:bodyPr wrap="square" lIns="36576" rIns="36576" tIns="36576" bIns="36576" anchor="t">
            <a:spAutoFit/>
          </a:bodyPr>
          <a:lstStyle/>
          <a:p>
            <a:pPr algn="l">
              <a:defRPr sz="1400" b="0">
                <a:solidFill>
                  <a:srgbClr val="667085"/>
                </a:solidFill>
                <a:latin typeface="Aptos"/>
              </a:defRPr>
            </a:pPr>
            <a:r>
              <a:t>Originals, Markdown, canonical knowledge files, cache</a:t>
            </a:r>
          </a:p>
        </p:txBody>
      </p:sp>
      <p:sp>
        <p:nvSpPr>
          <p:cNvPr id="38" name="Rounded Rectangle 37"/>
          <p:cNvSpPr/>
          <p:nvPr/>
        </p:nvSpPr>
        <p:spPr>
          <a:xfrm>
            <a:off x="4617720" y="3657600"/>
            <a:ext cx="2971800" cy="13716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17720" y="3657600"/>
            <a:ext cx="73152" cy="137160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73752" y="3858768"/>
            <a:ext cx="25146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SQLite</a:t>
            </a:r>
          </a:p>
        </p:txBody>
      </p:sp>
      <p:sp>
        <p:nvSpPr>
          <p:cNvPr id="41" name="TextBox 40"/>
          <p:cNvSpPr txBox="1"/>
          <p:nvPr/>
        </p:nvSpPr>
        <p:spPr>
          <a:xfrm>
            <a:off x="4873752" y="4352544"/>
            <a:ext cx="2478024" cy="548640"/>
          </a:xfrm>
          <a:prstGeom prst="rect">
            <a:avLst/>
          </a:prstGeom>
          <a:noFill/>
        </p:spPr>
        <p:txBody>
          <a:bodyPr wrap="square" lIns="36576" rIns="36576" tIns="36576" bIns="36576" anchor="t">
            <a:spAutoFit/>
          </a:bodyPr>
          <a:lstStyle/>
          <a:p>
            <a:pPr algn="l">
              <a:defRPr sz="1400" b="0">
                <a:solidFill>
                  <a:srgbClr val="667085"/>
                </a:solidFill>
                <a:latin typeface="Aptos"/>
              </a:defRPr>
            </a:pPr>
            <a:r>
              <a:t>Documents, sessions, messages, queries, traces, analytics</a:t>
            </a:r>
          </a:p>
        </p:txBody>
      </p:sp>
      <p:sp>
        <p:nvSpPr>
          <p:cNvPr id="42" name="Rounded Rectangle 41"/>
          <p:cNvSpPr/>
          <p:nvPr/>
        </p:nvSpPr>
        <p:spPr>
          <a:xfrm>
            <a:off x="8321040" y="3657600"/>
            <a:ext cx="2971800" cy="13716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1040" y="3657600"/>
            <a:ext cx="73152" cy="137160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77072" y="3858768"/>
            <a:ext cx="25146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Qdrant volume</a:t>
            </a:r>
          </a:p>
        </p:txBody>
      </p:sp>
      <p:sp>
        <p:nvSpPr>
          <p:cNvPr id="45" name="TextBox 44"/>
          <p:cNvSpPr txBox="1"/>
          <p:nvPr/>
        </p:nvSpPr>
        <p:spPr>
          <a:xfrm>
            <a:off x="8577072" y="4352544"/>
            <a:ext cx="2478024" cy="548640"/>
          </a:xfrm>
          <a:prstGeom prst="rect">
            <a:avLst/>
          </a:prstGeom>
          <a:noFill/>
        </p:spPr>
        <p:txBody>
          <a:bodyPr wrap="square" lIns="36576" rIns="36576" tIns="36576" bIns="36576" anchor="t">
            <a:spAutoFit/>
          </a:bodyPr>
          <a:lstStyle/>
          <a:p>
            <a:pPr algn="l">
              <a:defRPr sz="1400" b="0">
                <a:solidFill>
                  <a:srgbClr val="667085"/>
                </a:solidFill>
                <a:latin typeface="Aptos"/>
              </a:defRPr>
            </a:pPr>
            <a:r>
              <a:t>Dense vectors, sparse vectors, metadata payload</a:t>
            </a:r>
          </a:p>
        </p:txBody>
      </p:sp>
      <p:sp>
        <p:nvSpPr>
          <p:cNvPr id="46" name="Rounded Rectangle 45"/>
          <p:cNvSpPr/>
          <p:nvPr/>
        </p:nvSpPr>
        <p:spPr>
          <a:xfrm>
            <a:off x="1005840" y="5596128"/>
            <a:ext cx="1014984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70432" y="572414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48" name="TextBox 47"/>
          <p:cNvSpPr txBox="1"/>
          <p:nvPr/>
        </p:nvSpPr>
        <p:spPr>
          <a:xfrm>
            <a:off x="2130552" y="5696712"/>
            <a:ext cx="886968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Everything runs on one machine; network ports are loopback-only unless deliberately reconfigured.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TECHNOLOGY MAP</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One component, one responsibility</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6</a:t>
            </a:r>
          </a:p>
        </p:txBody>
      </p:sp>
      <p:sp>
        <p:nvSpPr>
          <p:cNvPr id="7" name="Rounded Rectangle 6"/>
          <p:cNvSpPr/>
          <p:nvPr/>
        </p:nvSpPr>
        <p:spPr>
          <a:xfrm>
            <a:off x="658368" y="1426464"/>
            <a:ext cx="10881360" cy="69494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1056"/>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FastAPI</a:t>
            </a:r>
          </a:p>
        </p:txBody>
      </p:sp>
      <p:sp>
        <p:nvSpPr>
          <p:cNvPr id="9" name="TextBox 8"/>
          <p:cNvSpPr txBox="1"/>
          <p:nvPr/>
        </p:nvSpPr>
        <p:spPr>
          <a:xfrm>
            <a:off x="2423160" y="1591056"/>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Stable API boundary</a:t>
            </a:r>
          </a:p>
        </p:txBody>
      </p:sp>
      <p:sp>
        <p:nvSpPr>
          <p:cNvPr id="10" name="TextBox 9"/>
          <p:cNvSpPr txBox="1"/>
          <p:nvPr/>
        </p:nvSpPr>
        <p:spPr>
          <a:xfrm>
            <a:off x="4800600" y="1591056"/>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Upload, query, health, history, traces, analytics</a:t>
            </a:r>
          </a:p>
        </p:txBody>
      </p:sp>
      <p:sp>
        <p:nvSpPr>
          <p:cNvPr id="11" name="Rounded Rectangle 10"/>
          <p:cNvSpPr/>
          <p:nvPr/>
        </p:nvSpPr>
        <p:spPr>
          <a:xfrm>
            <a:off x="658368" y="2185416"/>
            <a:ext cx="10881360" cy="694944"/>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50008"/>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Streamlit</a:t>
            </a:r>
          </a:p>
        </p:txBody>
      </p:sp>
      <p:sp>
        <p:nvSpPr>
          <p:cNvPr id="13" name="TextBox 12"/>
          <p:cNvSpPr txBox="1"/>
          <p:nvPr/>
        </p:nvSpPr>
        <p:spPr>
          <a:xfrm>
            <a:off x="2423160" y="2350008"/>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Human-friendly workspace</a:t>
            </a:r>
          </a:p>
        </p:txBody>
      </p:sp>
      <p:sp>
        <p:nvSpPr>
          <p:cNvPr id="14" name="TextBox 13"/>
          <p:cNvSpPr txBox="1"/>
          <p:nvPr/>
        </p:nvSpPr>
        <p:spPr>
          <a:xfrm>
            <a:off x="4800600" y="2350008"/>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Chat, citations, Library, Operations, Insights</a:t>
            </a:r>
          </a:p>
        </p:txBody>
      </p:sp>
      <p:sp>
        <p:nvSpPr>
          <p:cNvPr id="15" name="Rounded Rectangle 14"/>
          <p:cNvSpPr/>
          <p:nvPr/>
        </p:nvSpPr>
        <p:spPr>
          <a:xfrm>
            <a:off x="658368" y="2944368"/>
            <a:ext cx="10881360" cy="69494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108960"/>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Ollama</a:t>
            </a:r>
          </a:p>
        </p:txBody>
      </p:sp>
      <p:sp>
        <p:nvSpPr>
          <p:cNvPr id="17" name="TextBox 16"/>
          <p:cNvSpPr txBox="1"/>
          <p:nvPr/>
        </p:nvSpPr>
        <p:spPr>
          <a:xfrm>
            <a:off x="2423160" y="3108960"/>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Local model runtime</a:t>
            </a:r>
          </a:p>
        </p:txBody>
      </p:sp>
      <p:sp>
        <p:nvSpPr>
          <p:cNvPr id="18" name="TextBox 17"/>
          <p:cNvSpPr txBox="1"/>
          <p:nvPr/>
        </p:nvSpPr>
        <p:spPr>
          <a:xfrm>
            <a:off x="4800600" y="3108960"/>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Gemma 4 for language; EmbeddingGemma for vectors</a:t>
            </a:r>
          </a:p>
        </p:txBody>
      </p:sp>
      <p:sp>
        <p:nvSpPr>
          <p:cNvPr id="19" name="Rounded Rectangle 18"/>
          <p:cNvSpPr/>
          <p:nvPr/>
        </p:nvSpPr>
        <p:spPr>
          <a:xfrm>
            <a:off x="658368" y="3703320"/>
            <a:ext cx="10881360" cy="694944"/>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867911"/>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Qdrant</a:t>
            </a:r>
          </a:p>
        </p:txBody>
      </p:sp>
      <p:sp>
        <p:nvSpPr>
          <p:cNvPr id="21" name="TextBox 20"/>
          <p:cNvSpPr txBox="1"/>
          <p:nvPr/>
        </p:nvSpPr>
        <p:spPr>
          <a:xfrm>
            <a:off x="2423160" y="3867911"/>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Fast retrieval index</a:t>
            </a:r>
          </a:p>
        </p:txBody>
      </p:sp>
      <p:sp>
        <p:nvSpPr>
          <p:cNvPr id="22" name="TextBox 21"/>
          <p:cNvSpPr txBox="1"/>
          <p:nvPr/>
        </p:nvSpPr>
        <p:spPr>
          <a:xfrm>
            <a:off x="4800600" y="3867911"/>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Dense + sparse vectors and filterable payload</a:t>
            </a:r>
          </a:p>
        </p:txBody>
      </p:sp>
      <p:sp>
        <p:nvSpPr>
          <p:cNvPr id="23" name="Rounded Rectangle 22"/>
          <p:cNvSpPr/>
          <p:nvPr/>
        </p:nvSpPr>
        <p:spPr>
          <a:xfrm>
            <a:off x="658368" y="4462272"/>
            <a:ext cx="10881360" cy="69494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626864"/>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OKF</a:t>
            </a:r>
          </a:p>
        </p:txBody>
      </p:sp>
      <p:sp>
        <p:nvSpPr>
          <p:cNvPr id="25" name="TextBox 24"/>
          <p:cNvSpPr txBox="1"/>
          <p:nvPr/>
        </p:nvSpPr>
        <p:spPr>
          <a:xfrm>
            <a:off x="2423160" y="4626864"/>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Canonical knowledge form</a:t>
            </a:r>
          </a:p>
        </p:txBody>
      </p:sp>
      <p:sp>
        <p:nvSpPr>
          <p:cNvPr id="26" name="TextBox 25"/>
          <p:cNvSpPr txBox="1"/>
          <p:nvPr/>
        </p:nvSpPr>
        <p:spPr>
          <a:xfrm>
            <a:off x="4800600" y="4626864"/>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Readable, rebuildable document concepts and references</a:t>
            </a:r>
          </a:p>
        </p:txBody>
      </p:sp>
      <p:sp>
        <p:nvSpPr>
          <p:cNvPr id="27" name="Rounded Rectangle 26"/>
          <p:cNvSpPr/>
          <p:nvPr/>
        </p:nvSpPr>
        <p:spPr>
          <a:xfrm>
            <a:off x="658368" y="5221224"/>
            <a:ext cx="10881360" cy="694944"/>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385816"/>
            <a:ext cx="1417320" cy="228600"/>
          </a:xfrm>
          <a:prstGeom prst="rect">
            <a:avLst/>
          </a:prstGeom>
          <a:noFill/>
        </p:spPr>
        <p:txBody>
          <a:bodyPr wrap="square" lIns="36576" rIns="36576" tIns="36576" bIns="36576" anchor="t">
            <a:spAutoFit/>
          </a:bodyPr>
          <a:lstStyle/>
          <a:p>
            <a:pPr algn="l">
              <a:defRPr sz="1500" b="1">
                <a:solidFill>
                  <a:srgbClr val="2F6FED"/>
                </a:solidFill>
                <a:latin typeface="Aptos"/>
              </a:defRPr>
            </a:pPr>
            <a:r>
              <a:t>SQLite</a:t>
            </a:r>
          </a:p>
        </p:txBody>
      </p:sp>
      <p:sp>
        <p:nvSpPr>
          <p:cNvPr id="29" name="TextBox 28"/>
          <p:cNvSpPr txBox="1"/>
          <p:nvPr/>
        </p:nvSpPr>
        <p:spPr>
          <a:xfrm>
            <a:off x="2423160" y="5385816"/>
            <a:ext cx="2331720" cy="228600"/>
          </a:xfrm>
          <a:prstGeom prst="rect">
            <a:avLst/>
          </a:prstGeom>
          <a:noFill/>
        </p:spPr>
        <p:txBody>
          <a:bodyPr wrap="square" lIns="36576" rIns="36576" tIns="36576" bIns="36576" anchor="t">
            <a:spAutoFit/>
          </a:bodyPr>
          <a:lstStyle/>
          <a:p>
            <a:pPr algn="l">
              <a:defRPr sz="1400" b="1">
                <a:solidFill>
                  <a:srgbClr val="172033"/>
                </a:solidFill>
                <a:latin typeface="Aptos"/>
              </a:defRPr>
            </a:pPr>
            <a:r>
              <a:t>Operational memory</a:t>
            </a:r>
          </a:p>
        </p:txBody>
      </p:sp>
      <p:sp>
        <p:nvSpPr>
          <p:cNvPr id="30" name="TextBox 29"/>
          <p:cNvSpPr txBox="1"/>
          <p:nvPr/>
        </p:nvSpPr>
        <p:spPr>
          <a:xfrm>
            <a:off x="4800600" y="5385816"/>
            <a:ext cx="6400800" cy="256032"/>
          </a:xfrm>
          <a:prstGeom prst="rect">
            <a:avLst/>
          </a:prstGeom>
          <a:noFill/>
        </p:spPr>
        <p:txBody>
          <a:bodyPr wrap="square" lIns="36576" rIns="36576" tIns="36576" bIns="36576" anchor="t">
            <a:spAutoFit/>
          </a:bodyPr>
          <a:lstStyle/>
          <a:p>
            <a:pPr algn="l">
              <a:defRPr sz="1350" b="0">
                <a:solidFill>
                  <a:srgbClr val="667085"/>
                </a:solidFill>
                <a:latin typeface="Aptos"/>
              </a:defRPr>
            </a:pPr>
            <a:r>
              <a:t>Sessions, messages, query plans, runs, confidence,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DETAILED FLOW</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Document ingestion: from file to searchable knowledge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7</a:t>
            </a:r>
          </a:p>
        </p:txBody>
      </p:sp>
      <p:sp>
        <p:nvSpPr>
          <p:cNvPr id="7" name="Rounded Rectangle 6"/>
          <p:cNvSpPr/>
          <p:nvPr/>
        </p:nvSpPr>
        <p:spPr>
          <a:xfrm>
            <a:off x="512064"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0936" y="1618488"/>
            <a:ext cx="310896" cy="310896"/>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1</a:t>
            </a:r>
          </a:p>
        </p:txBody>
      </p:sp>
      <p:sp>
        <p:nvSpPr>
          <p:cNvPr id="10" name="TextBox 9"/>
          <p:cNvSpPr txBox="1"/>
          <p:nvPr/>
        </p:nvSpPr>
        <p:spPr>
          <a:xfrm>
            <a:off x="1014984"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Validate</a:t>
            </a:r>
          </a:p>
        </p:txBody>
      </p:sp>
      <p:sp>
        <p:nvSpPr>
          <p:cNvPr id="11" name="TextBox 10"/>
          <p:cNvSpPr txBox="1"/>
          <p:nvPr/>
        </p:nvSpPr>
        <p:spPr>
          <a:xfrm>
            <a:off x="640080"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Size, extension, signature, safe filename</a:t>
            </a:r>
          </a:p>
        </p:txBody>
      </p:sp>
      <p:sp>
        <p:nvSpPr>
          <p:cNvPr id="12" name="TextBox 11"/>
          <p:cNvSpPr txBox="1"/>
          <p:nvPr/>
        </p:nvSpPr>
        <p:spPr>
          <a:xfrm>
            <a:off x="2135124" y="1801368"/>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3" name="Rounded Rectangle 12"/>
          <p:cNvSpPr/>
          <p:nvPr/>
        </p:nvSpPr>
        <p:spPr>
          <a:xfrm>
            <a:off x="2418587"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537459" y="1618488"/>
            <a:ext cx="310896" cy="3108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46603"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2</a:t>
            </a:r>
          </a:p>
        </p:txBody>
      </p:sp>
      <p:sp>
        <p:nvSpPr>
          <p:cNvPr id="16" name="TextBox 15"/>
          <p:cNvSpPr txBox="1"/>
          <p:nvPr/>
        </p:nvSpPr>
        <p:spPr>
          <a:xfrm>
            <a:off x="2921507"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Convert</a:t>
            </a:r>
          </a:p>
        </p:txBody>
      </p:sp>
      <p:sp>
        <p:nvSpPr>
          <p:cNvPr id="17" name="TextBox 16"/>
          <p:cNvSpPr txBox="1"/>
          <p:nvPr/>
        </p:nvSpPr>
        <p:spPr>
          <a:xfrm>
            <a:off x="2546603"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MarkItDown → normalized Markdown</a:t>
            </a:r>
          </a:p>
        </p:txBody>
      </p:sp>
      <p:sp>
        <p:nvSpPr>
          <p:cNvPr id="18" name="TextBox 17"/>
          <p:cNvSpPr txBox="1"/>
          <p:nvPr/>
        </p:nvSpPr>
        <p:spPr>
          <a:xfrm>
            <a:off x="4041647" y="1801368"/>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9" name="Rounded Rectangle 18"/>
          <p:cNvSpPr/>
          <p:nvPr/>
        </p:nvSpPr>
        <p:spPr>
          <a:xfrm>
            <a:off x="4325111"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43983" y="1618488"/>
            <a:ext cx="310896" cy="3108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53127"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3</a:t>
            </a:r>
          </a:p>
        </p:txBody>
      </p:sp>
      <p:sp>
        <p:nvSpPr>
          <p:cNvPr id="22" name="TextBox 21"/>
          <p:cNvSpPr txBox="1"/>
          <p:nvPr/>
        </p:nvSpPr>
        <p:spPr>
          <a:xfrm>
            <a:off x="4828031"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Build OKF</a:t>
            </a:r>
          </a:p>
        </p:txBody>
      </p:sp>
      <p:sp>
        <p:nvSpPr>
          <p:cNvPr id="23" name="TextBox 22"/>
          <p:cNvSpPr txBox="1"/>
          <p:nvPr/>
        </p:nvSpPr>
        <p:spPr>
          <a:xfrm>
            <a:off x="4453127"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Canonical metadata + document concepts</a:t>
            </a:r>
          </a:p>
        </p:txBody>
      </p:sp>
      <p:sp>
        <p:nvSpPr>
          <p:cNvPr id="24" name="TextBox 23"/>
          <p:cNvSpPr txBox="1"/>
          <p:nvPr/>
        </p:nvSpPr>
        <p:spPr>
          <a:xfrm>
            <a:off x="5948171" y="1801368"/>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25" name="Rounded Rectangle 24"/>
          <p:cNvSpPr/>
          <p:nvPr/>
        </p:nvSpPr>
        <p:spPr>
          <a:xfrm>
            <a:off x="6231636"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50507" y="1618488"/>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9651"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4</a:t>
            </a:r>
          </a:p>
        </p:txBody>
      </p:sp>
      <p:sp>
        <p:nvSpPr>
          <p:cNvPr id="28" name="TextBox 27"/>
          <p:cNvSpPr txBox="1"/>
          <p:nvPr/>
        </p:nvSpPr>
        <p:spPr>
          <a:xfrm>
            <a:off x="6734555"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Chunk</a:t>
            </a:r>
          </a:p>
        </p:txBody>
      </p:sp>
      <p:sp>
        <p:nvSpPr>
          <p:cNvPr id="29" name="TextBox 28"/>
          <p:cNvSpPr txBox="1"/>
          <p:nvPr/>
        </p:nvSpPr>
        <p:spPr>
          <a:xfrm>
            <a:off x="6359651"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Structure-aware passages with overlap</a:t>
            </a:r>
          </a:p>
        </p:txBody>
      </p:sp>
      <p:sp>
        <p:nvSpPr>
          <p:cNvPr id="30" name="TextBox 29"/>
          <p:cNvSpPr txBox="1"/>
          <p:nvPr/>
        </p:nvSpPr>
        <p:spPr>
          <a:xfrm>
            <a:off x="7854696" y="1801368"/>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31" name="Rounded Rectangle 30"/>
          <p:cNvSpPr/>
          <p:nvPr/>
        </p:nvSpPr>
        <p:spPr>
          <a:xfrm>
            <a:off x="8138159"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57031" y="1618488"/>
            <a:ext cx="310896" cy="310896"/>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66175"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5</a:t>
            </a:r>
          </a:p>
        </p:txBody>
      </p:sp>
      <p:sp>
        <p:nvSpPr>
          <p:cNvPr id="34" name="TextBox 33"/>
          <p:cNvSpPr txBox="1"/>
          <p:nvPr/>
        </p:nvSpPr>
        <p:spPr>
          <a:xfrm>
            <a:off x="8641080"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Embed + index</a:t>
            </a:r>
          </a:p>
        </p:txBody>
      </p:sp>
      <p:sp>
        <p:nvSpPr>
          <p:cNvPr id="35" name="TextBox 34"/>
          <p:cNvSpPr txBox="1"/>
          <p:nvPr/>
        </p:nvSpPr>
        <p:spPr>
          <a:xfrm>
            <a:off x="8266175"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Dense and sparse vectors in Qdrant</a:t>
            </a:r>
          </a:p>
        </p:txBody>
      </p:sp>
      <p:sp>
        <p:nvSpPr>
          <p:cNvPr id="36" name="TextBox 35"/>
          <p:cNvSpPr txBox="1"/>
          <p:nvPr/>
        </p:nvSpPr>
        <p:spPr>
          <a:xfrm>
            <a:off x="9761219" y="1801368"/>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37" name="Rounded Rectangle 36"/>
          <p:cNvSpPr/>
          <p:nvPr/>
        </p:nvSpPr>
        <p:spPr>
          <a:xfrm>
            <a:off x="10044683" y="1499616"/>
            <a:ext cx="1623059" cy="126187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63555" y="1618488"/>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2699" y="1655063"/>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6</a:t>
            </a:r>
          </a:p>
        </p:txBody>
      </p:sp>
      <p:sp>
        <p:nvSpPr>
          <p:cNvPr id="40" name="TextBox 39"/>
          <p:cNvSpPr txBox="1"/>
          <p:nvPr/>
        </p:nvSpPr>
        <p:spPr>
          <a:xfrm>
            <a:off x="10547603" y="1618488"/>
            <a:ext cx="1028699" cy="274320"/>
          </a:xfrm>
          <a:prstGeom prst="rect">
            <a:avLst/>
          </a:prstGeom>
          <a:noFill/>
        </p:spPr>
        <p:txBody>
          <a:bodyPr wrap="square" lIns="36576" rIns="36576" tIns="36576" bIns="36576" anchor="t">
            <a:spAutoFit/>
          </a:bodyPr>
          <a:lstStyle/>
          <a:p>
            <a:pPr algn="l">
              <a:defRPr sz="1100" b="1">
                <a:solidFill>
                  <a:srgbClr val="172033"/>
                </a:solidFill>
                <a:latin typeface="Aptos"/>
              </a:defRPr>
            </a:pPr>
            <a:r>
              <a:t>Register</a:t>
            </a:r>
          </a:p>
        </p:txBody>
      </p:sp>
      <p:sp>
        <p:nvSpPr>
          <p:cNvPr id="41" name="TextBox 40"/>
          <p:cNvSpPr txBox="1"/>
          <p:nvPr/>
        </p:nvSpPr>
        <p:spPr>
          <a:xfrm>
            <a:off x="10172699" y="1993391"/>
            <a:ext cx="1385315" cy="713231"/>
          </a:xfrm>
          <a:prstGeom prst="rect">
            <a:avLst/>
          </a:prstGeom>
          <a:noFill/>
        </p:spPr>
        <p:txBody>
          <a:bodyPr wrap="square" lIns="36576" rIns="36576" tIns="36576" bIns="36576" anchor="t">
            <a:spAutoFit/>
          </a:bodyPr>
          <a:lstStyle/>
          <a:p>
            <a:pPr algn="l">
              <a:defRPr sz="1050" b="0">
                <a:solidFill>
                  <a:srgbClr val="667085"/>
                </a:solidFill>
                <a:latin typeface="Aptos"/>
              </a:defRPr>
            </a:pPr>
            <a:r>
              <a:t>SQLite record marked ready</a:t>
            </a:r>
          </a:p>
        </p:txBody>
      </p:sp>
      <p:sp>
        <p:nvSpPr>
          <p:cNvPr id="42" name="Rounded Rectangle 41"/>
          <p:cNvSpPr/>
          <p:nvPr/>
        </p:nvSpPr>
        <p:spPr>
          <a:xfrm>
            <a:off x="713232" y="3337560"/>
            <a:ext cx="3401568" cy="173736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3232" y="3337560"/>
            <a:ext cx="73152" cy="1737360"/>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9264" y="3538728"/>
            <a:ext cx="294436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Safety before processing</a:t>
            </a:r>
          </a:p>
        </p:txBody>
      </p:sp>
      <p:sp>
        <p:nvSpPr>
          <p:cNvPr id="45" name="TextBox 44"/>
          <p:cNvSpPr txBox="1"/>
          <p:nvPr/>
        </p:nvSpPr>
        <p:spPr>
          <a:xfrm>
            <a:off x="969264" y="4032504"/>
            <a:ext cx="2907792" cy="914399"/>
          </a:xfrm>
          <a:prstGeom prst="rect">
            <a:avLst/>
          </a:prstGeom>
          <a:noFill/>
        </p:spPr>
        <p:txBody>
          <a:bodyPr wrap="square" lIns="36576" rIns="36576" tIns="36576" bIns="36576" anchor="t">
            <a:spAutoFit/>
          </a:bodyPr>
          <a:lstStyle/>
          <a:p>
            <a:pPr algn="l">
              <a:defRPr sz="1400" b="0">
                <a:solidFill>
                  <a:srgbClr val="667085"/>
                </a:solidFill>
                <a:latin typeface="Aptos"/>
              </a:defRPr>
            </a:pPr>
            <a:r>
              <a:t>Maximum upload size, allowed extensions, PDF signature checks, filename sanitization, and duplicate SHA-256 detection.</a:t>
            </a:r>
          </a:p>
        </p:txBody>
      </p:sp>
      <p:sp>
        <p:nvSpPr>
          <p:cNvPr id="46" name="Rounded Rectangle 45"/>
          <p:cNvSpPr/>
          <p:nvPr/>
        </p:nvSpPr>
        <p:spPr>
          <a:xfrm>
            <a:off x="4389120" y="3337560"/>
            <a:ext cx="3401568" cy="173736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389120" y="3337560"/>
            <a:ext cx="73152" cy="173736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45152" y="3538728"/>
            <a:ext cx="294436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Structure before vectors</a:t>
            </a:r>
          </a:p>
        </p:txBody>
      </p:sp>
      <p:sp>
        <p:nvSpPr>
          <p:cNvPr id="49" name="TextBox 48"/>
          <p:cNvSpPr txBox="1"/>
          <p:nvPr/>
        </p:nvSpPr>
        <p:spPr>
          <a:xfrm>
            <a:off x="4645152" y="4032504"/>
            <a:ext cx="2907792" cy="914399"/>
          </a:xfrm>
          <a:prstGeom prst="rect">
            <a:avLst/>
          </a:prstGeom>
          <a:noFill/>
        </p:spPr>
        <p:txBody>
          <a:bodyPr wrap="square" lIns="36576" rIns="36576" tIns="36576" bIns="36576" anchor="t">
            <a:spAutoFit/>
          </a:bodyPr>
          <a:lstStyle/>
          <a:p>
            <a:pPr algn="l">
              <a:defRPr sz="1400" b="0">
                <a:solidFill>
                  <a:srgbClr val="667085"/>
                </a:solidFill>
                <a:latin typeface="Aptos"/>
              </a:defRPr>
            </a:pPr>
            <a:r>
              <a:t>Headings, tables, code blocks, pages/slides/sheets, source hash, trust, status, and staleness stay attached to chunks.</a:t>
            </a:r>
          </a:p>
        </p:txBody>
      </p:sp>
      <p:sp>
        <p:nvSpPr>
          <p:cNvPr id="50" name="Rounded Rectangle 49"/>
          <p:cNvSpPr/>
          <p:nvPr/>
        </p:nvSpPr>
        <p:spPr>
          <a:xfrm>
            <a:off x="8065008" y="3337560"/>
            <a:ext cx="3401568" cy="173736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65008" y="3337560"/>
            <a:ext cx="73152" cy="173736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21040" y="3538728"/>
            <a:ext cx="294436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Failure stays safe</a:t>
            </a:r>
          </a:p>
        </p:txBody>
      </p:sp>
      <p:sp>
        <p:nvSpPr>
          <p:cNvPr id="53" name="TextBox 52"/>
          <p:cNvSpPr txBox="1"/>
          <p:nvPr/>
        </p:nvSpPr>
        <p:spPr>
          <a:xfrm>
            <a:off x="8321040" y="4032504"/>
            <a:ext cx="2907792" cy="914399"/>
          </a:xfrm>
          <a:prstGeom prst="rect">
            <a:avLst/>
          </a:prstGeom>
          <a:noFill/>
        </p:spPr>
        <p:txBody>
          <a:bodyPr wrap="square" lIns="36576" rIns="36576" tIns="36576" bIns="36576" anchor="t">
            <a:spAutoFit/>
          </a:bodyPr>
          <a:lstStyle/>
          <a:p>
            <a:pPr algn="l">
              <a:defRPr sz="1400" b="0">
                <a:solidFill>
                  <a:srgbClr val="667085"/>
                </a:solidFill>
                <a:latin typeface="Aptos"/>
              </a:defRPr>
            </a:pPr>
            <a:r>
              <a:t>A replacement version is fully converted and indexed before the prior working version is removed.</a:t>
            </a:r>
          </a:p>
        </p:txBody>
      </p:sp>
      <p:sp>
        <p:nvSpPr>
          <p:cNvPr id="54" name="Rounded Rectangle 53"/>
          <p:cNvSpPr/>
          <p:nvPr/>
        </p:nvSpPr>
        <p:spPr>
          <a:xfrm>
            <a:off x="1143000" y="5577840"/>
            <a:ext cx="9921240" cy="530352"/>
          </a:xfrm>
          <a:prstGeom prst="roundRect">
            <a:avLst/>
          </a:prstGeom>
          <a:solidFill>
            <a:srgbClr val="FFF7E5"/>
          </a:solidFill>
          <a:ln w="12700">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307592" y="5705855"/>
            <a:ext cx="960120" cy="228600"/>
          </a:xfrm>
          <a:prstGeom prst="rect">
            <a:avLst/>
          </a:prstGeom>
          <a:noFill/>
        </p:spPr>
        <p:txBody>
          <a:bodyPr wrap="square" lIns="36576" rIns="36576" tIns="36576" bIns="36576" anchor="t">
            <a:spAutoFit/>
          </a:bodyPr>
          <a:lstStyle/>
          <a:p>
            <a:pPr algn="l">
              <a:defRPr sz="900" b="1">
                <a:solidFill>
                  <a:srgbClr val="F59E0B"/>
                </a:solidFill>
                <a:latin typeface="Aptos"/>
              </a:defRPr>
            </a:pPr>
            <a:r>
              <a:t>LIMIT</a:t>
            </a:r>
          </a:p>
        </p:txBody>
      </p:sp>
      <p:sp>
        <p:nvSpPr>
          <p:cNvPr id="56" name="TextBox 55"/>
          <p:cNvSpPr txBox="1"/>
          <p:nvPr/>
        </p:nvSpPr>
        <p:spPr>
          <a:xfrm>
            <a:off x="2267712" y="5678424"/>
            <a:ext cx="864108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Scanned image-only PDFs require OCR before upload; conversion cannot summarize pixels as 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DATA ARCHITECTURE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OKF is the source of truth; Qdrant is replaceable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8</a:t>
            </a:r>
          </a:p>
        </p:txBody>
      </p:sp>
      <p:sp>
        <p:nvSpPr>
          <p:cNvPr id="7" name="Rounded Rectangle 6"/>
          <p:cNvSpPr/>
          <p:nvPr/>
        </p:nvSpPr>
        <p:spPr>
          <a:xfrm>
            <a:off x="685800" y="1600200"/>
            <a:ext cx="3337560" cy="32004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00200"/>
            <a:ext cx="73152" cy="3200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1801368"/>
            <a:ext cx="420624" cy="42062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a:t>
            </a:r>
          </a:p>
        </p:txBody>
      </p:sp>
      <p:sp>
        <p:nvSpPr>
          <p:cNvPr id="11" name="TextBox 10"/>
          <p:cNvSpPr txBox="1"/>
          <p:nvPr/>
        </p:nvSpPr>
        <p:spPr>
          <a:xfrm>
            <a:off x="1435607" y="1801368"/>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Durable knowledge</a:t>
            </a:r>
          </a:p>
        </p:txBody>
      </p:sp>
      <p:sp>
        <p:nvSpPr>
          <p:cNvPr id="12" name="TextBox 11"/>
          <p:cNvSpPr txBox="1"/>
          <p:nvPr/>
        </p:nvSpPr>
        <p:spPr>
          <a:xfrm>
            <a:off x="941832" y="2295144"/>
            <a:ext cx="2843784" cy="2377440"/>
          </a:xfrm>
          <a:prstGeom prst="rect">
            <a:avLst/>
          </a:prstGeom>
          <a:noFill/>
        </p:spPr>
        <p:txBody>
          <a:bodyPr wrap="square" lIns="36576" rIns="36576" tIns="36576" bIns="36576" anchor="t">
            <a:spAutoFit/>
          </a:bodyPr>
          <a:lstStyle/>
          <a:p>
            <a:pPr algn="l">
              <a:defRPr sz="1600" b="0">
                <a:solidFill>
                  <a:srgbClr val="667085"/>
                </a:solidFill>
                <a:latin typeface="Aptos"/>
              </a:defRPr>
            </a:pPr>
            <a:r>
              <a:t>Original source</a:t>
            </a:r>
            <a:br/>
            <a:r>
              <a:t>Converted Markdown</a:t>
            </a:r>
            <a:br/>
            <a:r>
              <a:t>OKF documents and concepts</a:t>
            </a:r>
            <a:br/>
            <a:r>
              <a:t>SQLite registry and history</a:t>
            </a:r>
          </a:p>
        </p:txBody>
      </p:sp>
      <p:sp>
        <p:nvSpPr>
          <p:cNvPr id="13" name="TextBox 12"/>
          <p:cNvSpPr txBox="1"/>
          <p:nvPr/>
        </p:nvSpPr>
        <p:spPr>
          <a:xfrm>
            <a:off x="4224528" y="2670048"/>
            <a:ext cx="1188720" cy="237744"/>
          </a:xfrm>
          <a:prstGeom prst="rect">
            <a:avLst/>
          </a:prstGeom>
          <a:noFill/>
        </p:spPr>
        <p:txBody>
          <a:bodyPr wrap="square" lIns="36576" rIns="36576" tIns="36576" bIns="36576" anchor="t">
            <a:spAutoFit/>
          </a:bodyPr>
          <a:lstStyle/>
          <a:p>
            <a:pPr algn="ctr">
              <a:defRPr sz="1000" b="1">
                <a:solidFill>
                  <a:srgbClr val="2F6FED"/>
                </a:solidFill>
                <a:latin typeface="Aptos"/>
              </a:defRPr>
            </a:pPr>
            <a:r>
              <a:t>REBUILD</a:t>
            </a:r>
          </a:p>
        </p:txBody>
      </p:sp>
      <p:sp>
        <p:nvSpPr>
          <p:cNvPr id="14" name="TextBox 13"/>
          <p:cNvSpPr txBox="1"/>
          <p:nvPr/>
        </p:nvSpPr>
        <p:spPr>
          <a:xfrm>
            <a:off x="4297680" y="2971800"/>
            <a:ext cx="1005840" cy="365760"/>
          </a:xfrm>
          <a:prstGeom prst="rect">
            <a:avLst/>
          </a:prstGeom>
          <a:noFill/>
        </p:spPr>
        <p:txBody>
          <a:bodyPr wrap="square" lIns="36576" rIns="36576" tIns="36576" bIns="36576" anchor="t">
            <a:spAutoFit/>
          </a:bodyPr>
          <a:lstStyle/>
          <a:p>
            <a:pPr algn="ctr">
              <a:defRPr sz="3000" b="1">
                <a:solidFill>
                  <a:srgbClr val="2F6FED"/>
                </a:solidFill>
                <a:latin typeface="Aptos"/>
              </a:defRPr>
            </a:pPr>
            <a:r>
              <a:t>→</a:t>
            </a:r>
          </a:p>
        </p:txBody>
      </p:sp>
      <p:sp>
        <p:nvSpPr>
          <p:cNvPr id="15" name="Rounded Rectangle 14"/>
          <p:cNvSpPr/>
          <p:nvPr/>
        </p:nvSpPr>
        <p:spPr>
          <a:xfrm>
            <a:off x="5486400" y="1600200"/>
            <a:ext cx="2971800" cy="32004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0" y="1600200"/>
            <a:ext cx="73152" cy="320040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05856" y="1801368"/>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182880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B</a:t>
            </a:r>
          </a:p>
        </p:txBody>
      </p:sp>
      <p:sp>
        <p:nvSpPr>
          <p:cNvPr id="19" name="TextBox 18"/>
          <p:cNvSpPr txBox="1"/>
          <p:nvPr/>
        </p:nvSpPr>
        <p:spPr>
          <a:xfrm>
            <a:off x="6236208" y="1801368"/>
            <a:ext cx="203911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Derived index</a:t>
            </a:r>
          </a:p>
        </p:txBody>
      </p:sp>
      <p:sp>
        <p:nvSpPr>
          <p:cNvPr id="20" name="TextBox 19"/>
          <p:cNvSpPr txBox="1"/>
          <p:nvPr/>
        </p:nvSpPr>
        <p:spPr>
          <a:xfrm>
            <a:off x="5742432" y="2295144"/>
            <a:ext cx="2478024" cy="2377440"/>
          </a:xfrm>
          <a:prstGeom prst="rect">
            <a:avLst/>
          </a:prstGeom>
          <a:noFill/>
        </p:spPr>
        <p:txBody>
          <a:bodyPr wrap="square" lIns="36576" rIns="36576" tIns="36576" bIns="36576" anchor="t">
            <a:spAutoFit/>
          </a:bodyPr>
          <a:lstStyle/>
          <a:p>
            <a:pPr algn="l">
              <a:defRPr sz="1600" b="0">
                <a:solidFill>
                  <a:srgbClr val="667085"/>
                </a:solidFill>
                <a:latin typeface="Aptos"/>
              </a:defRPr>
            </a:pPr>
            <a:r>
              <a:t>Qdrant collection</a:t>
            </a:r>
            <a:br/>
            <a:r>
              <a:t>Dense vectors</a:t>
            </a:r>
            <a:br/>
            <a:r>
              <a:t>Sparse vectors</a:t>
            </a:r>
            <a:br/>
            <a:r>
              <a:t>Search payload</a:t>
            </a:r>
          </a:p>
        </p:txBody>
      </p:sp>
      <p:sp>
        <p:nvSpPr>
          <p:cNvPr id="21" name="Rounded Rectangle 20"/>
          <p:cNvSpPr/>
          <p:nvPr/>
        </p:nvSpPr>
        <p:spPr>
          <a:xfrm>
            <a:off x="8796528" y="1600200"/>
            <a:ext cx="2697480" cy="32004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96528" y="1600200"/>
            <a:ext cx="73152" cy="320040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015984" y="1801368"/>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25128" y="182880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C</a:t>
            </a:r>
          </a:p>
        </p:txBody>
      </p:sp>
      <p:sp>
        <p:nvSpPr>
          <p:cNvPr id="25" name="TextBox 24"/>
          <p:cNvSpPr txBox="1"/>
          <p:nvPr/>
        </p:nvSpPr>
        <p:spPr>
          <a:xfrm>
            <a:off x="9546336" y="1801368"/>
            <a:ext cx="176479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Reusable cache</a:t>
            </a:r>
          </a:p>
        </p:txBody>
      </p:sp>
      <p:sp>
        <p:nvSpPr>
          <p:cNvPr id="26" name="TextBox 25"/>
          <p:cNvSpPr txBox="1"/>
          <p:nvPr/>
        </p:nvSpPr>
        <p:spPr>
          <a:xfrm>
            <a:off x="9052559" y="2295144"/>
            <a:ext cx="2203704" cy="2377440"/>
          </a:xfrm>
          <a:prstGeom prst="rect">
            <a:avLst/>
          </a:prstGeom>
          <a:noFill/>
        </p:spPr>
        <p:txBody>
          <a:bodyPr wrap="square" lIns="36576" rIns="36576" tIns="36576" bIns="36576" anchor="t">
            <a:spAutoFit/>
          </a:bodyPr>
          <a:lstStyle/>
          <a:p>
            <a:pPr algn="l">
              <a:defRPr sz="1450" b="0">
                <a:solidFill>
                  <a:srgbClr val="667085"/>
                </a:solidFill>
                <a:latin typeface="Aptos"/>
              </a:defRPr>
            </a:pPr>
            <a:r>
              <a:t>Embedding vectors by content hash</a:t>
            </a:r>
            <a:br/>
            <a:r>
              <a:t>Query-analysis plans by query + history hash</a:t>
            </a:r>
          </a:p>
        </p:txBody>
      </p:sp>
      <p:sp>
        <p:nvSpPr>
          <p:cNvPr id="27" name="Rounded Rectangle 26"/>
          <p:cNvSpPr/>
          <p:nvPr/>
        </p:nvSpPr>
        <p:spPr>
          <a:xfrm>
            <a:off x="1024128" y="5532120"/>
            <a:ext cx="1010412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5660136"/>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29" name="TextBox 28"/>
          <p:cNvSpPr txBox="1"/>
          <p:nvPr/>
        </p:nvSpPr>
        <p:spPr>
          <a:xfrm>
            <a:off x="2148840" y="5632704"/>
            <a:ext cx="882396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If Qdrant is lost, rebuild it from OKF. Cache improves speed; it is not authoritative knowledge.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DOCUMENT LIFECYCLE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Duplicate, update, delete, and restart behavior</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9</a:t>
            </a:r>
          </a:p>
        </p:txBody>
      </p:sp>
      <p:sp>
        <p:nvSpPr>
          <p:cNvPr id="7" name="Rounded Rectangle 6"/>
          <p:cNvSpPr/>
          <p:nvPr/>
        </p:nvSpPr>
        <p:spPr>
          <a:xfrm>
            <a:off x="640080" y="1481328"/>
            <a:ext cx="2606040" cy="19202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81328"/>
            <a:ext cx="73152" cy="19202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1682496"/>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1" name="TextBox 10"/>
          <p:cNvSpPr txBox="1"/>
          <p:nvPr/>
        </p:nvSpPr>
        <p:spPr>
          <a:xfrm>
            <a:off x="1389888" y="1682496"/>
            <a:ext cx="16733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Same content</a:t>
            </a:r>
          </a:p>
        </p:txBody>
      </p:sp>
      <p:sp>
        <p:nvSpPr>
          <p:cNvPr id="12" name="TextBox 11"/>
          <p:cNvSpPr txBox="1"/>
          <p:nvPr/>
        </p:nvSpPr>
        <p:spPr>
          <a:xfrm>
            <a:off x="896112" y="2176272"/>
            <a:ext cx="2112264" cy="1097280"/>
          </a:xfrm>
          <a:prstGeom prst="rect">
            <a:avLst/>
          </a:prstGeom>
          <a:noFill/>
        </p:spPr>
        <p:txBody>
          <a:bodyPr wrap="square" lIns="36576" rIns="36576" tIns="36576" bIns="36576" anchor="t">
            <a:spAutoFit/>
          </a:bodyPr>
          <a:lstStyle/>
          <a:p>
            <a:pPr algn="l">
              <a:defRPr sz="1400" b="0">
                <a:solidFill>
                  <a:srgbClr val="667085"/>
                </a:solidFill>
                <a:latin typeface="Aptos"/>
              </a:defRPr>
            </a:pPr>
            <a:r>
              <a:t>SHA-256 matches → return the existing document. No duplicate indexing.</a:t>
            </a:r>
          </a:p>
        </p:txBody>
      </p:sp>
      <p:sp>
        <p:nvSpPr>
          <p:cNvPr id="13" name="Rounded Rectangle 12"/>
          <p:cNvSpPr/>
          <p:nvPr/>
        </p:nvSpPr>
        <p:spPr>
          <a:xfrm>
            <a:off x="3401568" y="1481328"/>
            <a:ext cx="2606040" cy="19202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481328"/>
            <a:ext cx="73152" cy="192024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21024" y="1682496"/>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7" name="TextBox 16"/>
          <p:cNvSpPr txBox="1"/>
          <p:nvPr/>
        </p:nvSpPr>
        <p:spPr>
          <a:xfrm>
            <a:off x="4151376" y="1682496"/>
            <a:ext cx="16733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Same name, new content</a:t>
            </a:r>
          </a:p>
        </p:txBody>
      </p:sp>
      <p:sp>
        <p:nvSpPr>
          <p:cNvPr id="18" name="TextBox 17"/>
          <p:cNvSpPr txBox="1"/>
          <p:nvPr/>
        </p:nvSpPr>
        <p:spPr>
          <a:xfrm>
            <a:off x="3657600" y="2176272"/>
            <a:ext cx="2112264" cy="1097280"/>
          </a:xfrm>
          <a:prstGeom prst="rect">
            <a:avLst/>
          </a:prstGeom>
          <a:noFill/>
        </p:spPr>
        <p:txBody>
          <a:bodyPr wrap="square" lIns="36576" rIns="36576" tIns="36576" bIns="36576" anchor="t">
            <a:spAutoFit/>
          </a:bodyPr>
          <a:lstStyle/>
          <a:p>
            <a:pPr algn="l">
              <a:defRPr sz="1400" b="0">
                <a:solidFill>
                  <a:srgbClr val="667085"/>
                </a:solidFill>
                <a:latin typeface="Aptos"/>
              </a:defRPr>
            </a:pPr>
            <a:r>
              <a:t>Build the new version first → remove the old version only after success.</a:t>
            </a:r>
          </a:p>
        </p:txBody>
      </p:sp>
      <p:sp>
        <p:nvSpPr>
          <p:cNvPr id="19" name="Rounded Rectangle 18"/>
          <p:cNvSpPr/>
          <p:nvPr/>
        </p:nvSpPr>
        <p:spPr>
          <a:xfrm>
            <a:off x="6163056" y="1481328"/>
            <a:ext cx="2606040" cy="19202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481328"/>
            <a:ext cx="73152" cy="1920240"/>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82512" y="1682496"/>
            <a:ext cx="420624" cy="420624"/>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23" name="TextBox 22"/>
          <p:cNvSpPr txBox="1"/>
          <p:nvPr/>
        </p:nvSpPr>
        <p:spPr>
          <a:xfrm>
            <a:off x="6912864" y="1682496"/>
            <a:ext cx="16733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Delete through API/UI</a:t>
            </a:r>
          </a:p>
        </p:txBody>
      </p:sp>
      <p:sp>
        <p:nvSpPr>
          <p:cNvPr id="24" name="TextBox 23"/>
          <p:cNvSpPr txBox="1"/>
          <p:nvPr/>
        </p:nvSpPr>
        <p:spPr>
          <a:xfrm>
            <a:off x="6419088" y="2176272"/>
            <a:ext cx="2112264" cy="1097280"/>
          </a:xfrm>
          <a:prstGeom prst="rect">
            <a:avLst/>
          </a:prstGeom>
          <a:noFill/>
        </p:spPr>
        <p:txBody>
          <a:bodyPr wrap="square" lIns="36576" rIns="36576" tIns="36576" bIns="36576" anchor="t">
            <a:spAutoFit/>
          </a:bodyPr>
          <a:lstStyle/>
          <a:p>
            <a:pPr algn="l">
              <a:defRPr sz="1400" b="0">
                <a:solidFill>
                  <a:srgbClr val="667085"/>
                </a:solidFill>
                <a:latin typeface="Aptos"/>
              </a:defRPr>
            </a:pPr>
            <a:r>
              <a:t>Remove Qdrant points, OKF artifacts, Markdown, source file, and SQLite record.</a:t>
            </a:r>
          </a:p>
        </p:txBody>
      </p:sp>
      <p:sp>
        <p:nvSpPr>
          <p:cNvPr id="25" name="Rounded Rectangle 24"/>
          <p:cNvSpPr/>
          <p:nvPr/>
        </p:nvSpPr>
        <p:spPr>
          <a:xfrm>
            <a:off x="8924544" y="1481328"/>
            <a:ext cx="2606040" cy="19202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24544" y="1481328"/>
            <a:ext cx="73152"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4000" y="1682496"/>
            <a:ext cx="420624" cy="42062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4"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29" name="TextBox 28"/>
          <p:cNvSpPr txBox="1"/>
          <p:nvPr/>
        </p:nvSpPr>
        <p:spPr>
          <a:xfrm>
            <a:off x="9674352" y="1682496"/>
            <a:ext cx="16733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Computer restart</a:t>
            </a:r>
          </a:p>
        </p:txBody>
      </p:sp>
      <p:sp>
        <p:nvSpPr>
          <p:cNvPr id="30" name="TextBox 29"/>
          <p:cNvSpPr txBox="1"/>
          <p:nvPr/>
        </p:nvSpPr>
        <p:spPr>
          <a:xfrm>
            <a:off x="9180576" y="2176272"/>
            <a:ext cx="2112264" cy="1097280"/>
          </a:xfrm>
          <a:prstGeom prst="rect">
            <a:avLst/>
          </a:prstGeom>
          <a:noFill/>
        </p:spPr>
        <p:txBody>
          <a:bodyPr wrap="square" lIns="36576" rIns="36576" tIns="36576" bIns="36576" anchor="t">
            <a:spAutoFit/>
          </a:bodyPr>
          <a:lstStyle/>
          <a:p>
            <a:pPr algn="l">
              <a:defRPr sz="1400" b="0">
                <a:solidFill>
                  <a:srgbClr val="667085"/>
                </a:solidFill>
                <a:latin typeface="Aptos"/>
              </a:defRPr>
            </a:pPr>
            <a:r>
              <a:t>No re-upload when data folders and the Docker volume remain intact. Restart services only.</a:t>
            </a:r>
          </a:p>
        </p:txBody>
      </p:sp>
      <p:sp>
        <p:nvSpPr>
          <p:cNvPr id="31" name="Rounded Rectangle 30"/>
          <p:cNvSpPr/>
          <p:nvPr/>
        </p:nvSpPr>
        <p:spPr>
          <a:xfrm>
            <a:off x="960120" y="3977639"/>
            <a:ext cx="10241280" cy="1170432"/>
          </a:xfrm>
          <a:prstGeom prst="roundRect">
            <a:avLst/>
          </a:prstGeom>
          <a:solidFill>
            <a:srgbClr val="FFF7E5"/>
          </a:solidFill>
          <a:ln w="12700">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4440" y="4242816"/>
            <a:ext cx="2240280" cy="292608"/>
          </a:xfrm>
          <a:prstGeom prst="rect">
            <a:avLst/>
          </a:prstGeom>
          <a:noFill/>
        </p:spPr>
        <p:txBody>
          <a:bodyPr wrap="square" lIns="36576" rIns="36576" tIns="36576" bIns="36576" anchor="t">
            <a:spAutoFit/>
          </a:bodyPr>
          <a:lstStyle/>
          <a:p>
            <a:pPr algn="l">
              <a:defRPr sz="1500" b="1">
                <a:solidFill>
                  <a:srgbClr val="F59E0B"/>
                </a:solidFill>
                <a:latin typeface="Aptos"/>
              </a:defRPr>
            </a:pPr>
            <a:r>
              <a:t>Important manual-edit rule</a:t>
            </a:r>
          </a:p>
        </p:txBody>
      </p:sp>
      <p:sp>
        <p:nvSpPr>
          <p:cNvPr id="33" name="TextBox 32"/>
          <p:cNvSpPr txBox="1"/>
          <p:nvPr/>
        </p:nvSpPr>
        <p:spPr>
          <a:xfrm>
            <a:off x="3401568" y="4151376"/>
            <a:ext cx="7360920" cy="530352"/>
          </a:xfrm>
          <a:prstGeom prst="rect">
            <a:avLst/>
          </a:prstGeom>
          <a:noFill/>
        </p:spPr>
        <p:txBody>
          <a:bodyPr wrap="square" lIns="36576" rIns="36576" tIns="36576" bIns="36576" anchor="t">
            <a:spAutoFit/>
          </a:bodyPr>
          <a:lstStyle/>
          <a:p>
            <a:pPr algn="l">
              <a:defRPr sz="1500" b="0">
                <a:solidFill>
                  <a:srgbClr val="172033"/>
                </a:solidFill>
                <a:latin typeface="Aptos"/>
              </a:defRPr>
            </a:pPr>
            <a:r>
              <a:t>Deleting an OKF file by hand does not immediately delete existing Qdrant points. Use the Library delete action or run the OKF → Qdrant rebuild.</a:t>
            </a:r>
          </a:p>
        </p:txBody>
      </p:sp>
      <p:sp>
        <p:nvSpPr>
          <p:cNvPr id="34" name="Rounded Rectangle 33"/>
          <p:cNvSpPr/>
          <p:nvPr/>
        </p:nvSpPr>
        <p:spPr>
          <a:xfrm>
            <a:off x="1481328" y="5596128"/>
            <a:ext cx="9235440" cy="530352"/>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45920" y="5724144"/>
            <a:ext cx="960120" cy="228600"/>
          </a:xfrm>
          <a:prstGeom prst="rect">
            <a:avLst/>
          </a:prstGeom>
          <a:noFill/>
        </p:spPr>
        <p:txBody>
          <a:bodyPr wrap="square" lIns="36576" rIns="36576" tIns="36576" bIns="36576" anchor="t">
            <a:spAutoFit/>
          </a:bodyPr>
          <a:lstStyle/>
          <a:p>
            <a:pPr algn="l">
              <a:defRPr sz="900" b="1">
                <a:solidFill>
                  <a:srgbClr val="13795B"/>
                </a:solidFill>
                <a:latin typeface="Aptos"/>
              </a:defRPr>
            </a:pPr>
            <a:r>
              <a:t>TAKEAWAY</a:t>
            </a:r>
          </a:p>
        </p:txBody>
      </p:sp>
      <p:sp>
        <p:nvSpPr>
          <p:cNvPr id="36" name="TextBox 35"/>
          <p:cNvSpPr txBox="1"/>
          <p:nvPr/>
        </p:nvSpPr>
        <p:spPr>
          <a:xfrm>
            <a:off x="2606040" y="5696712"/>
            <a:ext cx="795527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Persistence depends on preserving data/ and the qdrant_storage Docker volume.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AGENTIC RAG</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Question flow: analyze, retrieve, verify, answer</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10</a:t>
            </a:r>
          </a:p>
        </p:txBody>
      </p:sp>
      <p:sp>
        <p:nvSpPr>
          <p:cNvPr id="7" name="Rounded Rectangle 6"/>
          <p:cNvSpPr/>
          <p:nvPr/>
        </p:nvSpPr>
        <p:spPr>
          <a:xfrm>
            <a:off x="411480"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0352" y="1563624"/>
            <a:ext cx="310896" cy="310896"/>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9496"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1</a:t>
            </a:r>
          </a:p>
        </p:txBody>
      </p:sp>
      <p:sp>
        <p:nvSpPr>
          <p:cNvPr id="10" name="TextBox 9"/>
          <p:cNvSpPr txBox="1"/>
          <p:nvPr/>
        </p:nvSpPr>
        <p:spPr>
          <a:xfrm>
            <a:off x="914400"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Validate</a:t>
            </a:r>
          </a:p>
        </p:txBody>
      </p:sp>
      <p:sp>
        <p:nvSpPr>
          <p:cNvPr id="11" name="TextBox 10"/>
          <p:cNvSpPr txBox="1"/>
          <p:nvPr/>
        </p:nvSpPr>
        <p:spPr>
          <a:xfrm>
            <a:off x="539496"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Session ID + question</a:t>
            </a:r>
          </a:p>
        </p:txBody>
      </p:sp>
      <p:sp>
        <p:nvSpPr>
          <p:cNvPr id="12" name="TextBox 11"/>
          <p:cNvSpPr txBox="1"/>
          <p:nvPr/>
        </p:nvSpPr>
        <p:spPr>
          <a:xfrm>
            <a:off x="1790917"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3" name="Rounded Rectangle 12"/>
          <p:cNvSpPr/>
          <p:nvPr/>
        </p:nvSpPr>
        <p:spPr>
          <a:xfrm>
            <a:off x="2074381"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193253" y="1563624"/>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02397"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2</a:t>
            </a:r>
          </a:p>
        </p:txBody>
      </p:sp>
      <p:sp>
        <p:nvSpPr>
          <p:cNvPr id="16" name="TextBox 15"/>
          <p:cNvSpPr txBox="1"/>
          <p:nvPr/>
        </p:nvSpPr>
        <p:spPr>
          <a:xfrm>
            <a:off x="2577301"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Analyze</a:t>
            </a:r>
          </a:p>
        </p:txBody>
      </p:sp>
      <p:sp>
        <p:nvSpPr>
          <p:cNvPr id="17" name="TextBox 16"/>
          <p:cNvSpPr txBox="1"/>
          <p:nvPr/>
        </p:nvSpPr>
        <p:spPr>
          <a:xfrm>
            <a:off x="2202397"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Intent, entities, exact terms, follow-up context</a:t>
            </a:r>
          </a:p>
        </p:txBody>
      </p:sp>
      <p:sp>
        <p:nvSpPr>
          <p:cNvPr id="18" name="TextBox 17"/>
          <p:cNvSpPr txBox="1"/>
          <p:nvPr/>
        </p:nvSpPr>
        <p:spPr>
          <a:xfrm>
            <a:off x="3453819"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19" name="Rounded Rectangle 18"/>
          <p:cNvSpPr/>
          <p:nvPr/>
        </p:nvSpPr>
        <p:spPr>
          <a:xfrm>
            <a:off x="3737283"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56155" y="1563624"/>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65299"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3</a:t>
            </a:r>
          </a:p>
        </p:txBody>
      </p:sp>
      <p:sp>
        <p:nvSpPr>
          <p:cNvPr id="22" name="TextBox 21"/>
          <p:cNvSpPr txBox="1"/>
          <p:nvPr/>
        </p:nvSpPr>
        <p:spPr>
          <a:xfrm>
            <a:off x="4240203"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Plan</a:t>
            </a:r>
          </a:p>
        </p:txBody>
      </p:sp>
      <p:sp>
        <p:nvSpPr>
          <p:cNvPr id="23" name="TextBox 22"/>
          <p:cNvSpPr txBox="1"/>
          <p:nvPr/>
        </p:nvSpPr>
        <p:spPr>
          <a:xfrm>
            <a:off x="3865299"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One or several bounded searches</a:t>
            </a:r>
          </a:p>
        </p:txBody>
      </p:sp>
      <p:sp>
        <p:nvSpPr>
          <p:cNvPr id="24" name="TextBox 23"/>
          <p:cNvSpPr txBox="1"/>
          <p:nvPr/>
        </p:nvSpPr>
        <p:spPr>
          <a:xfrm>
            <a:off x="5116721"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25" name="Rounded Rectangle 24"/>
          <p:cNvSpPr/>
          <p:nvPr/>
        </p:nvSpPr>
        <p:spPr>
          <a:xfrm>
            <a:off x="5400185"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519057" y="1563624"/>
            <a:ext cx="310896" cy="310896"/>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28201"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4</a:t>
            </a:r>
          </a:p>
        </p:txBody>
      </p:sp>
      <p:sp>
        <p:nvSpPr>
          <p:cNvPr id="28" name="TextBox 27"/>
          <p:cNvSpPr txBox="1"/>
          <p:nvPr/>
        </p:nvSpPr>
        <p:spPr>
          <a:xfrm>
            <a:off x="5903105"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Retrieve</a:t>
            </a:r>
          </a:p>
        </p:txBody>
      </p:sp>
      <p:sp>
        <p:nvSpPr>
          <p:cNvPr id="29" name="TextBox 28"/>
          <p:cNvSpPr txBox="1"/>
          <p:nvPr/>
        </p:nvSpPr>
        <p:spPr>
          <a:xfrm>
            <a:off x="5528201"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Dense + sparse + links</a:t>
            </a:r>
          </a:p>
        </p:txBody>
      </p:sp>
      <p:sp>
        <p:nvSpPr>
          <p:cNvPr id="30" name="TextBox 29"/>
          <p:cNvSpPr txBox="1"/>
          <p:nvPr/>
        </p:nvSpPr>
        <p:spPr>
          <a:xfrm>
            <a:off x="6779622"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31" name="Rounded Rectangle 30"/>
          <p:cNvSpPr/>
          <p:nvPr/>
        </p:nvSpPr>
        <p:spPr>
          <a:xfrm>
            <a:off x="7063086"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181958" y="1563624"/>
            <a:ext cx="310896" cy="310896"/>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91102"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5</a:t>
            </a:r>
          </a:p>
        </p:txBody>
      </p:sp>
      <p:sp>
        <p:nvSpPr>
          <p:cNvPr id="34" name="TextBox 33"/>
          <p:cNvSpPr txBox="1"/>
          <p:nvPr/>
        </p:nvSpPr>
        <p:spPr>
          <a:xfrm>
            <a:off x="7566006"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Rerank</a:t>
            </a:r>
          </a:p>
        </p:txBody>
      </p:sp>
      <p:sp>
        <p:nvSpPr>
          <p:cNvPr id="35" name="TextBox 34"/>
          <p:cNvSpPr txBox="1"/>
          <p:nvPr/>
        </p:nvSpPr>
        <p:spPr>
          <a:xfrm>
            <a:off x="7191102"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Relevance, trust, freshness</a:t>
            </a:r>
          </a:p>
        </p:txBody>
      </p:sp>
      <p:sp>
        <p:nvSpPr>
          <p:cNvPr id="36" name="TextBox 35"/>
          <p:cNvSpPr txBox="1"/>
          <p:nvPr/>
        </p:nvSpPr>
        <p:spPr>
          <a:xfrm>
            <a:off x="8442524"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37" name="Rounded Rectangle 36"/>
          <p:cNvSpPr/>
          <p:nvPr/>
        </p:nvSpPr>
        <p:spPr>
          <a:xfrm>
            <a:off x="8725988"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844860" y="1563624"/>
            <a:ext cx="310896" cy="31089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54004"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6</a:t>
            </a:r>
          </a:p>
        </p:txBody>
      </p:sp>
      <p:sp>
        <p:nvSpPr>
          <p:cNvPr id="40" name="TextBox 39"/>
          <p:cNvSpPr txBox="1"/>
          <p:nvPr/>
        </p:nvSpPr>
        <p:spPr>
          <a:xfrm>
            <a:off x="9228908"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Check</a:t>
            </a:r>
          </a:p>
        </p:txBody>
      </p:sp>
      <p:sp>
        <p:nvSpPr>
          <p:cNvPr id="41" name="TextBox 40"/>
          <p:cNvSpPr txBox="1"/>
          <p:nvPr/>
        </p:nvSpPr>
        <p:spPr>
          <a:xfrm>
            <a:off x="8854004"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Enough evidence? Retry once or refuse</a:t>
            </a:r>
          </a:p>
        </p:txBody>
      </p:sp>
      <p:sp>
        <p:nvSpPr>
          <p:cNvPr id="42" name="TextBox 41"/>
          <p:cNvSpPr txBox="1"/>
          <p:nvPr/>
        </p:nvSpPr>
        <p:spPr>
          <a:xfrm>
            <a:off x="10105426" y="1746504"/>
            <a:ext cx="283464" cy="274320"/>
          </a:xfrm>
          <a:prstGeom prst="rect">
            <a:avLst/>
          </a:prstGeom>
          <a:noFill/>
        </p:spPr>
        <p:txBody>
          <a:bodyPr wrap="square" lIns="36576" rIns="36576" tIns="36576" bIns="36576" anchor="t">
            <a:spAutoFit/>
          </a:bodyPr>
          <a:lstStyle/>
          <a:p>
            <a:pPr algn="ctr">
              <a:defRPr sz="1800" b="1">
                <a:solidFill>
                  <a:srgbClr val="2F6FED"/>
                </a:solidFill>
                <a:latin typeface="Aptos"/>
              </a:defRPr>
            </a:pPr>
            <a:r>
              <a:t>→</a:t>
            </a:r>
          </a:p>
        </p:txBody>
      </p:sp>
      <p:sp>
        <p:nvSpPr>
          <p:cNvPr id="43" name="Rounded Rectangle 42"/>
          <p:cNvSpPr/>
          <p:nvPr/>
        </p:nvSpPr>
        <p:spPr>
          <a:xfrm>
            <a:off x="10388890" y="1444752"/>
            <a:ext cx="1379437" cy="133502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507762" y="1563624"/>
            <a:ext cx="310896" cy="310896"/>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6906" y="1600200"/>
            <a:ext cx="292608" cy="182880"/>
          </a:xfrm>
          <a:prstGeom prst="rect">
            <a:avLst/>
          </a:prstGeom>
          <a:noFill/>
        </p:spPr>
        <p:txBody>
          <a:bodyPr wrap="square" lIns="36576" rIns="36576" tIns="36576" bIns="36576" anchor="t">
            <a:spAutoFit/>
          </a:bodyPr>
          <a:lstStyle/>
          <a:p>
            <a:pPr algn="ctr">
              <a:defRPr sz="900" b="1">
                <a:solidFill>
                  <a:srgbClr val="FFFFFF"/>
                </a:solidFill>
                <a:latin typeface="Aptos"/>
              </a:defRPr>
            </a:pPr>
            <a:r>
              <a:t>7</a:t>
            </a:r>
          </a:p>
        </p:txBody>
      </p:sp>
      <p:sp>
        <p:nvSpPr>
          <p:cNvPr id="46" name="TextBox 45"/>
          <p:cNvSpPr txBox="1"/>
          <p:nvPr/>
        </p:nvSpPr>
        <p:spPr>
          <a:xfrm>
            <a:off x="10891810" y="1563624"/>
            <a:ext cx="785077" cy="274320"/>
          </a:xfrm>
          <a:prstGeom prst="rect">
            <a:avLst/>
          </a:prstGeom>
          <a:noFill/>
        </p:spPr>
        <p:txBody>
          <a:bodyPr wrap="square" lIns="36576" rIns="36576" tIns="36576" bIns="36576" anchor="t">
            <a:spAutoFit/>
          </a:bodyPr>
          <a:lstStyle/>
          <a:p>
            <a:pPr algn="l">
              <a:defRPr sz="1050" b="1">
                <a:solidFill>
                  <a:srgbClr val="172033"/>
                </a:solidFill>
                <a:latin typeface="Aptos"/>
              </a:defRPr>
            </a:pPr>
            <a:r>
              <a:t>Generate</a:t>
            </a:r>
          </a:p>
        </p:txBody>
      </p:sp>
      <p:sp>
        <p:nvSpPr>
          <p:cNvPr id="47" name="TextBox 46"/>
          <p:cNvSpPr txBox="1"/>
          <p:nvPr/>
        </p:nvSpPr>
        <p:spPr>
          <a:xfrm>
            <a:off x="10516906" y="1938528"/>
            <a:ext cx="1141693" cy="786384"/>
          </a:xfrm>
          <a:prstGeom prst="rect">
            <a:avLst/>
          </a:prstGeom>
          <a:noFill/>
        </p:spPr>
        <p:txBody>
          <a:bodyPr wrap="square" lIns="36576" rIns="36576" tIns="36576" bIns="36576" anchor="t">
            <a:spAutoFit/>
          </a:bodyPr>
          <a:lstStyle/>
          <a:p>
            <a:pPr algn="l">
              <a:defRPr sz="1050" b="0">
                <a:solidFill>
                  <a:srgbClr val="667085"/>
                </a:solidFill>
                <a:latin typeface="Aptos"/>
              </a:defRPr>
            </a:pPr>
            <a:r>
              <a:t>Adaptive detail + citations</a:t>
            </a:r>
          </a:p>
        </p:txBody>
      </p:sp>
      <p:sp>
        <p:nvSpPr>
          <p:cNvPr id="48" name="Rounded Rectangle 47"/>
          <p:cNvSpPr/>
          <p:nvPr/>
        </p:nvSpPr>
        <p:spPr>
          <a:xfrm>
            <a:off x="685800" y="3401568"/>
            <a:ext cx="3429000" cy="166420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85800" y="3401568"/>
            <a:ext cx="73152" cy="166420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41832" y="3602736"/>
            <a:ext cx="29718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Adaptive—not autonomous</a:t>
            </a:r>
          </a:p>
        </p:txBody>
      </p:sp>
      <p:sp>
        <p:nvSpPr>
          <p:cNvPr id="51" name="TextBox 50"/>
          <p:cNvSpPr txBox="1"/>
          <p:nvPr/>
        </p:nvSpPr>
        <p:spPr>
          <a:xfrm>
            <a:off x="941832" y="4096512"/>
            <a:ext cx="2935224" cy="841248"/>
          </a:xfrm>
          <a:prstGeom prst="rect">
            <a:avLst/>
          </a:prstGeom>
          <a:noFill/>
        </p:spPr>
        <p:txBody>
          <a:bodyPr wrap="square" lIns="36576" rIns="36576" tIns="36576" bIns="36576" anchor="t">
            <a:spAutoFit/>
          </a:bodyPr>
          <a:lstStyle/>
          <a:p>
            <a:pPr algn="l">
              <a:defRPr sz="1400" b="0">
                <a:solidFill>
                  <a:srgbClr val="667085"/>
                </a:solidFill>
                <a:latin typeface="Aptos"/>
              </a:defRPr>
            </a:pPr>
            <a:r>
              <a:t>The workflow chooses bounded retrieval strategies. It cannot browse freely, call arbitrary tools, or loop forever.</a:t>
            </a:r>
          </a:p>
        </p:txBody>
      </p:sp>
      <p:sp>
        <p:nvSpPr>
          <p:cNvPr id="52" name="Rounded Rectangle 51"/>
          <p:cNvSpPr/>
          <p:nvPr/>
        </p:nvSpPr>
        <p:spPr>
          <a:xfrm>
            <a:off x="4389120" y="3401568"/>
            <a:ext cx="3429000" cy="166420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389120" y="3401568"/>
            <a:ext cx="73152" cy="166420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45152" y="3602736"/>
            <a:ext cx="29718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Deterministic repairs</a:t>
            </a:r>
          </a:p>
        </p:txBody>
      </p:sp>
      <p:sp>
        <p:nvSpPr>
          <p:cNvPr id="55" name="TextBox 54"/>
          <p:cNvSpPr txBox="1"/>
          <p:nvPr/>
        </p:nvSpPr>
        <p:spPr>
          <a:xfrm>
            <a:off x="4645152" y="4096512"/>
            <a:ext cx="2935224" cy="841248"/>
          </a:xfrm>
          <a:prstGeom prst="rect">
            <a:avLst/>
          </a:prstGeom>
          <a:noFill/>
        </p:spPr>
        <p:txBody>
          <a:bodyPr wrap="square" lIns="36576" rIns="36576" tIns="36576" bIns="36576" anchor="t">
            <a:spAutoFit/>
          </a:bodyPr>
          <a:lstStyle/>
          <a:p>
            <a:pPr algn="l">
              <a:defRPr sz="1400" b="0">
                <a:solidFill>
                  <a:srgbClr val="667085"/>
                </a:solidFill>
                <a:latin typeface="Aptos"/>
              </a:defRPr>
            </a:pPr>
            <a:r>
              <a:t>Python corrects risky small-model mistakes such as false locator classification or a missing retrieval strategy.</a:t>
            </a:r>
          </a:p>
        </p:txBody>
      </p:sp>
      <p:sp>
        <p:nvSpPr>
          <p:cNvPr id="56" name="Rounded Rectangle 55"/>
          <p:cNvSpPr/>
          <p:nvPr/>
        </p:nvSpPr>
        <p:spPr>
          <a:xfrm>
            <a:off x="8092440" y="3401568"/>
            <a:ext cx="3429000" cy="166420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092440" y="3401568"/>
            <a:ext cx="73152" cy="166420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48471" y="3602736"/>
            <a:ext cx="297180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Supported no-answer</a:t>
            </a:r>
          </a:p>
        </p:txBody>
      </p:sp>
      <p:sp>
        <p:nvSpPr>
          <p:cNvPr id="59" name="TextBox 58"/>
          <p:cNvSpPr txBox="1"/>
          <p:nvPr/>
        </p:nvSpPr>
        <p:spPr>
          <a:xfrm>
            <a:off x="8348471" y="4096512"/>
            <a:ext cx="2935224" cy="841248"/>
          </a:xfrm>
          <a:prstGeom prst="rect">
            <a:avLst/>
          </a:prstGeom>
          <a:noFill/>
        </p:spPr>
        <p:txBody>
          <a:bodyPr wrap="square" lIns="36576" rIns="36576" tIns="36576" bIns="36576" anchor="t">
            <a:spAutoFit/>
          </a:bodyPr>
          <a:lstStyle/>
          <a:p>
            <a:pPr algn="l">
              <a:defRPr sz="1400" b="0">
                <a:solidFill>
                  <a:srgbClr val="667085"/>
                </a:solidFill>
                <a:latin typeface="Aptos"/>
              </a:defRPr>
            </a:pPr>
            <a:r>
              <a:t>Weak evidence returns a clear limitation and no citations instead of filling gaps with model memory.</a:t>
            </a:r>
          </a:p>
        </p:txBody>
      </p:sp>
      <p:sp>
        <p:nvSpPr>
          <p:cNvPr id="60" name="Rounded Rectangle 59"/>
          <p:cNvSpPr/>
          <p:nvPr/>
        </p:nvSpPr>
        <p:spPr>
          <a:xfrm>
            <a:off x="1874519" y="5614416"/>
            <a:ext cx="841248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39112" y="5742431"/>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62" name="TextBox 61"/>
          <p:cNvSpPr txBox="1"/>
          <p:nvPr/>
        </p:nvSpPr>
        <p:spPr>
          <a:xfrm>
            <a:off x="2999232" y="5715000"/>
            <a:ext cx="71323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Maximum retrieval rounds: 2 by default. Maximum subqueries: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ACCURACY MECHANICS</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Why retrieval uses two search channels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11</a:t>
            </a:r>
          </a:p>
        </p:txBody>
      </p:sp>
      <p:sp>
        <p:nvSpPr>
          <p:cNvPr id="7" name="Rounded Rectangle 6"/>
          <p:cNvSpPr/>
          <p:nvPr/>
        </p:nvSpPr>
        <p:spPr>
          <a:xfrm>
            <a:off x="658368" y="1444752"/>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44752"/>
            <a:ext cx="73152" cy="21488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645920"/>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73352"/>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D</a:t>
            </a:r>
          </a:p>
        </p:txBody>
      </p:sp>
      <p:sp>
        <p:nvSpPr>
          <p:cNvPr id="11" name="TextBox 10"/>
          <p:cNvSpPr txBox="1"/>
          <p:nvPr/>
        </p:nvSpPr>
        <p:spPr>
          <a:xfrm>
            <a:off x="1408176" y="1645920"/>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Dense search = meaning</a:t>
            </a:r>
          </a:p>
        </p:txBody>
      </p:sp>
      <p:sp>
        <p:nvSpPr>
          <p:cNvPr id="12" name="TextBox 11"/>
          <p:cNvSpPr txBox="1"/>
          <p:nvPr/>
        </p:nvSpPr>
        <p:spPr>
          <a:xfrm>
            <a:off x="914400" y="2139696"/>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EmbeddingGemma converts the question and passages into vectors. Useful when wording differs but meaning is similar.</a:t>
            </a:r>
          </a:p>
        </p:txBody>
      </p:sp>
      <p:sp>
        <p:nvSpPr>
          <p:cNvPr id="13" name="Rounded Rectangle 12"/>
          <p:cNvSpPr/>
          <p:nvPr/>
        </p:nvSpPr>
        <p:spPr>
          <a:xfrm>
            <a:off x="4425696" y="1444752"/>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1444752"/>
            <a:ext cx="73152" cy="2148840"/>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45152" y="1645920"/>
            <a:ext cx="420624" cy="420624"/>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54296" y="1673352"/>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S</a:t>
            </a:r>
          </a:p>
        </p:txBody>
      </p:sp>
      <p:sp>
        <p:nvSpPr>
          <p:cNvPr id="17" name="TextBox 16"/>
          <p:cNvSpPr txBox="1"/>
          <p:nvPr/>
        </p:nvSpPr>
        <p:spPr>
          <a:xfrm>
            <a:off x="5175504" y="1645920"/>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Sparse search = exactness</a:t>
            </a:r>
          </a:p>
        </p:txBody>
      </p:sp>
      <p:sp>
        <p:nvSpPr>
          <p:cNvPr id="18" name="TextBox 17"/>
          <p:cNvSpPr txBox="1"/>
          <p:nvPr/>
        </p:nvSpPr>
        <p:spPr>
          <a:xfrm>
            <a:off x="4681728" y="2139696"/>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Token and compact character features catch names, error codes, protocol labels, quoted fragments, and PDF text with missing spaces.</a:t>
            </a:r>
          </a:p>
        </p:txBody>
      </p:sp>
      <p:sp>
        <p:nvSpPr>
          <p:cNvPr id="19" name="Rounded Rectangle 18"/>
          <p:cNvSpPr/>
          <p:nvPr/>
        </p:nvSpPr>
        <p:spPr>
          <a:xfrm>
            <a:off x="8193024" y="1444752"/>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3024" y="1444752"/>
            <a:ext cx="73152" cy="214884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2480" y="1645920"/>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1673352"/>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R</a:t>
            </a:r>
          </a:p>
        </p:txBody>
      </p:sp>
      <p:sp>
        <p:nvSpPr>
          <p:cNvPr id="23" name="TextBox 22"/>
          <p:cNvSpPr txBox="1"/>
          <p:nvPr/>
        </p:nvSpPr>
        <p:spPr>
          <a:xfrm>
            <a:off x="8942832" y="1645920"/>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Fusion + reranking</a:t>
            </a:r>
          </a:p>
        </p:txBody>
      </p:sp>
      <p:sp>
        <p:nvSpPr>
          <p:cNvPr id="24" name="TextBox 23"/>
          <p:cNvSpPr txBox="1"/>
          <p:nvPr/>
        </p:nvSpPr>
        <p:spPr>
          <a:xfrm>
            <a:off x="8449056" y="2139696"/>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Reciprocal-rank fusion combines both lists; deterministic or LLM reranking then favors directness, balance, trust, and freshness.</a:t>
            </a:r>
          </a:p>
        </p:txBody>
      </p:sp>
      <p:sp>
        <p:nvSpPr>
          <p:cNvPr id="25" name="TextBox 24"/>
          <p:cNvSpPr txBox="1"/>
          <p:nvPr/>
        </p:nvSpPr>
        <p:spPr>
          <a:xfrm>
            <a:off x="1078992" y="4261104"/>
            <a:ext cx="2103120" cy="274320"/>
          </a:xfrm>
          <a:prstGeom prst="rect">
            <a:avLst/>
          </a:prstGeom>
          <a:noFill/>
        </p:spPr>
        <p:txBody>
          <a:bodyPr wrap="square" lIns="36576" rIns="36576" tIns="36576" bIns="36576" anchor="t">
            <a:spAutoFit/>
          </a:bodyPr>
          <a:lstStyle/>
          <a:p>
            <a:pPr algn="ctr">
              <a:defRPr sz="1300" b="1">
                <a:solidFill>
                  <a:srgbClr val="2F6FED"/>
                </a:solidFill>
                <a:latin typeface="Aptos"/>
              </a:defRPr>
            </a:pPr>
            <a:r>
              <a:t>Dense candidates</a:t>
            </a:r>
          </a:p>
        </p:txBody>
      </p:sp>
      <p:sp>
        <p:nvSpPr>
          <p:cNvPr id="26" name="TextBox 25"/>
          <p:cNvSpPr txBox="1"/>
          <p:nvPr/>
        </p:nvSpPr>
        <p:spPr>
          <a:xfrm>
            <a:off x="3255264" y="4242816"/>
            <a:ext cx="457200" cy="274320"/>
          </a:xfrm>
          <a:prstGeom prst="rect">
            <a:avLst/>
          </a:prstGeom>
          <a:noFill/>
        </p:spPr>
        <p:txBody>
          <a:bodyPr wrap="square" lIns="36576" rIns="36576" tIns="36576" bIns="36576" anchor="t">
            <a:spAutoFit/>
          </a:bodyPr>
          <a:lstStyle/>
          <a:p>
            <a:pPr algn="ctr">
              <a:defRPr sz="2000" b="1">
                <a:solidFill>
                  <a:srgbClr val="667085"/>
                </a:solidFill>
                <a:latin typeface="Aptos"/>
              </a:defRPr>
            </a:pPr>
            <a:r>
              <a:t>+</a:t>
            </a:r>
          </a:p>
        </p:txBody>
      </p:sp>
      <p:sp>
        <p:nvSpPr>
          <p:cNvPr id="27" name="TextBox 26"/>
          <p:cNvSpPr txBox="1"/>
          <p:nvPr/>
        </p:nvSpPr>
        <p:spPr>
          <a:xfrm>
            <a:off x="3840480" y="4261104"/>
            <a:ext cx="2103120" cy="274320"/>
          </a:xfrm>
          <a:prstGeom prst="rect">
            <a:avLst/>
          </a:prstGeom>
          <a:noFill/>
        </p:spPr>
        <p:txBody>
          <a:bodyPr wrap="square" lIns="36576" rIns="36576" tIns="36576" bIns="36576" anchor="t">
            <a:spAutoFit/>
          </a:bodyPr>
          <a:lstStyle/>
          <a:p>
            <a:pPr algn="ctr">
              <a:defRPr sz="1300" b="1">
                <a:solidFill>
                  <a:srgbClr val="FF4D4F"/>
                </a:solidFill>
                <a:latin typeface="Aptos"/>
              </a:defRPr>
            </a:pPr>
            <a:r>
              <a:t>Sparse candidates</a:t>
            </a:r>
          </a:p>
        </p:txBody>
      </p:sp>
      <p:sp>
        <p:nvSpPr>
          <p:cNvPr id="28" name="TextBox 27"/>
          <p:cNvSpPr txBox="1"/>
          <p:nvPr/>
        </p:nvSpPr>
        <p:spPr>
          <a:xfrm>
            <a:off x="6144768" y="4242816"/>
            <a:ext cx="457200" cy="274320"/>
          </a:xfrm>
          <a:prstGeom prst="rect">
            <a:avLst/>
          </a:prstGeom>
          <a:noFill/>
        </p:spPr>
        <p:txBody>
          <a:bodyPr wrap="square" lIns="36576" rIns="36576" tIns="36576" bIns="36576" anchor="t">
            <a:spAutoFit/>
          </a:bodyPr>
          <a:lstStyle/>
          <a:p>
            <a:pPr algn="ctr">
              <a:defRPr sz="2000" b="1">
                <a:solidFill>
                  <a:srgbClr val="667085"/>
                </a:solidFill>
                <a:latin typeface="Aptos"/>
              </a:defRPr>
            </a:pPr>
            <a:r>
              <a:t>→</a:t>
            </a:r>
          </a:p>
        </p:txBody>
      </p:sp>
      <p:sp>
        <p:nvSpPr>
          <p:cNvPr id="29" name="TextBox 28"/>
          <p:cNvSpPr txBox="1"/>
          <p:nvPr/>
        </p:nvSpPr>
        <p:spPr>
          <a:xfrm>
            <a:off x="6720840" y="4261104"/>
            <a:ext cx="1828800" cy="274320"/>
          </a:xfrm>
          <a:prstGeom prst="rect">
            <a:avLst/>
          </a:prstGeom>
          <a:noFill/>
        </p:spPr>
        <p:txBody>
          <a:bodyPr wrap="square" lIns="36576" rIns="36576" tIns="36576" bIns="36576" anchor="t">
            <a:spAutoFit/>
          </a:bodyPr>
          <a:lstStyle/>
          <a:p>
            <a:pPr algn="ctr">
              <a:defRPr sz="1300" b="1">
                <a:solidFill>
                  <a:srgbClr val="13795B"/>
                </a:solidFill>
                <a:latin typeface="Aptos"/>
              </a:defRPr>
            </a:pPr>
            <a:r>
              <a:t>Fused top 15</a:t>
            </a:r>
          </a:p>
        </p:txBody>
      </p:sp>
      <p:sp>
        <p:nvSpPr>
          <p:cNvPr id="30" name="TextBox 29"/>
          <p:cNvSpPr txBox="1"/>
          <p:nvPr/>
        </p:nvSpPr>
        <p:spPr>
          <a:xfrm>
            <a:off x="8686800" y="4242816"/>
            <a:ext cx="457200" cy="274320"/>
          </a:xfrm>
          <a:prstGeom prst="rect">
            <a:avLst/>
          </a:prstGeom>
          <a:noFill/>
        </p:spPr>
        <p:txBody>
          <a:bodyPr wrap="square" lIns="36576" rIns="36576" tIns="36576" bIns="36576" anchor="t">
            <a:spAutoFit/>
          </a:bodyPr>
          <a:lstStyle/>
          <a:p>
            <a:pPr algn="ctr">
              <a:defRPr sz="2000" b="1">
                <a:solidFill>
                  <a:srgbClr val="667085"/>
                </a:solidFill>
                <a:latin typeface="Aptos"/>
              </a:defRPr>
            </a:pPr>
            <a:r>
              <a:t>→</a:t>
            </a:r>
          </a:p>
        </p:txBody>
      </p:sp>
      <p:sp>
        <p:nvSpPr>
          <p:cNvPr id="31" name="TextBox 30"/>
          <p:cNvSpPr txBox="1"/>
          <p:nvPr/>
        </p:nvSpPr>
        <p:spPr>
          <a:xfrm>
            <a:off x="9253728" y="4261104"/>
            <a:ext cx="1828800" cy="274320"/>
          </a:xfrm>
          <a:prstGeom prst="rect">
            <a:avLst/>
          </a:prstGeom>
          <a:noFill/>
        </p:spPr>
        <p:txBody>
          <a:bodyPr wrap="square" lIns="36576" rIns="36576" tIns="36576" bIns="36576" anchor="t">
            <a:spAutoFit/>
          </a:bodyPr>
          <a:lstStyle/>
          <a:p>
            <a:pPr algn="ctr">
              <a:defRPr sz="1300" b="1">
                <a:solidFill>
                  <a:srgbClr val="2F6FED"/>
                </a:solidFill>
                <a:latin typeface="Aptos"/>
              </a:defRPr>
            </a:pPr>
            <a:r>
              <a:t>Reranked top 8</a:t>
            </a:r>
          </a:p>
        </p:txBody>
      </p:sp>
      <p:sp>
        <p:nvSpPr>
          <p:cNvPr id="32" name="Rounded Rectangle 31"/>
          <p:cNvSpPr/>
          <p:nvPr/>
        </p:nvSpPr>
        <p:spPr>
          <a:xfrm>
            <a:off x="1188720" y="5504688"/>
            <a:ext cx="978408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3312" y="5632703"/>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34" name="TextBox 33"/>
          <p:cNvSpPr txBox="1"/>
          <p:nvPr/>
        </p:nvSpPr>
        <p:spPr>
          <a:xfrm>
            <a:off x="2313432" y="5605272"/>
            <a:ext cx="85039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One channel finds paraphrases; the other protects exact technical language.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ANSWER POLICY</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Grounded answers and adaptive detail</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12</a:t>
            </a:r>
          </a:p>
        </p:txBody>
      </p:sp>
      <p:sp>
        <p:nvSpPr>
          <p:cNvPr id="7" name="Rounded Rectangle 6"/>
          <p:cNvSpPr/>
          <p:nvPr/>
        </p:nvSpPr>
        <p:spPr>
          <a:xfrm>
            <a:off x="658368" y="1481328"/>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81328"/>
            <a:ext cx="73152" cy="214884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682496"/>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1</a:t>
            </a:r>
          </a:p>
        </p:txBody>
      </p:sp>
      <p:sp>
        <p:nvSpPr>
          <p:cNvPr id="11" name="TextBox 10"/>
          <p:cNvSpPr txBox="1"/>
          <p:nvPr/>
        </p:nvSpPr>
        <p:spPr>
          <a:xfrm>
            <a:off x="1408176" y="1682496"/>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Simple fact</a:t>
            </a:r>
          </a:p>
        </p:txBody>
      </p:sp>
      <p:sp>
        <p:nvSpPr>
          <p:cNvPr id="12" name="TextBox 11"/>
          <p:cNvSpPr txBox="1"/>
          <p:nvPr/>
        </p:nvSpPr>
        <p:spPr>
          <a:xfrm>
            <a:off x="914400" y="2176272"/>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Direct answer first. Usually one or two sentences and up to four focused evidence excerpts.</a:t>
            </a:r>
          </a:p>
        </p:txBody>
      </p:sp>
      <p:sp>
        <p:nvSpPr>
          <p:cNvPr id="13" name="Rounded Rectangle 12"/>
          <p:cNvSpPr/>
          <p:nvPr/>
        </p:nvSpPr>
        <p:spPr>
          <a:xfrm>
            <a:off x="4425696" y="1481328"/>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1481328"/>
            <a:ext cx="73152" cy="214884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45152" y="1682496"/>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54296"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2</a:t>
            </a:r>
          </a:p>
        </p:txBody>
      </p:sp>
      <p:sp>
        <p:nvSpPr>
          <p:cNvPr id="17" name="TextBox 16"/>
          <p:cNvSpPr txBox="1"/>
          <p:nvPr/>
        </p:nvSpPr>
        <p:spPr>
          <a:xfrm>
            <a:off x="5175504" y="1682496"/>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Summary / analysis</a:t>
            </a:r>
          </a:p>
        </p:txBody>
      </p:sp>
      <p:sp>
        <p:nvSpPr>
          <p:cNvPr id="18" name="TextBox 17"/>
          <p:cNvSpPr txBox="1"/>
          <p:nvPr/>
        </p:nvSpPr>
        <p:spPr>
          <a:xfrm>
            <a:off x="4681728" y="2176272"/>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Multiple theme-oriented searches, structured synthesis, limitations disclosed, and requested length honored when supported.</a:t>
            </a:r>
          </a:p>
        </p:txBody>
      </p:sp>
      <p:sp>
        <p:nvSpPr>
          <p:cNvPr id="19" name="Rounded Rectangle 18"/>
          <p:cNvSpPr/>
          <p:nvPr/>
        </p:nvSpPr>
        <p:spPr>
          <a:xfrm>
            <a:off x="8193024" y="1481328"/>
            <a:ext cx="3337560" cy="214884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3024" y="1481328"/>
            <a:ext cx="73152" cy="2148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2480" y="1682496"/>
            <a:ext cx="420624" cy="42062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21624" y="170992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3</a:t>
            </a:r>
          </a:p>
        </p:txBody>
      </p:sp>
      <p:sp>
        <p:nvSpPr>
          <p:cNvPr id="23" name="TextBox 22"/>
          <p:cNvSpPr txBox="1"/>
          <p:nvPr/>
        </p:nvSpPr>
        <p:spPr>
          <a:xfrm>
            <a:off x="8942832" y="1682496"/>
            <a:ext cx="240487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Comparison / how-to</a:t>
            </a:r>
          </a:p>
        </p:txBody>
      </p:sp>
      <p:sp>
        <p:nvSpPr>
          <p:cNvPr id="24" name="TextBox 23"/>
          <p:cNvSpPr txBox="1"/>
          <p:nvPr/>
        </p:nvSpPr>
        <p:spPr>
          <a:xfrm>
            <a:off x="8449056" y="2176272"/>
            <a:ext cx="2843784" cy="1325880"/>
          </a:xfrm>
          <a:prstGeom prst="rect">
            <a:avLst/>
          </a:prstGeom>
          <a:noFill/>
        </p:spPr>
        <p:txBody>
          <a:bodyPr wrap="square" lIns="36576" rIns="36576" tIns="36576" bIns="36576" anchor="t">
            <a:spAutoFit/>
          </a:bodyPr>
          <a:lstStyle/>
          <a:p>
            <a:pPr algn="l">
              <a:defRPr sz="1500" b="0">
                <a:solidFill>
                  <a:srgbClr val="667085"/>
                </a:solidFill>
                <a:latin typeface="Aptos"/>
              </a:defRPr>
            </a:pPr>
            <a:r>
              <a:t>Balanced targets or ordered steps, with missing dimensions and unsupported warnings stated clearly.</a:t>
            </a:r>
          </a:p>
        </p:txBody>
      </p:sp>
      <p:sp>
        <p:nvSpPr>
          <p:cNvPr id="25" name="TextBox 24"/>
          <p:cNvSpPr txBox="1"/>
          <p:nvPr/>
        </p:nvSpPr>
        <p:spPr>
          <a:xfrm>
            <a:off x="914400" y="4160520"/>
            <a:ext cx="10424160" cy="1417320"/>
          </a:xfrm>
          <a:prstGeom prst="rect">
            <a:avLst/>
          </a:prstGeom>
          <a:noFill/>
        </p:spPr>
        <p:txBody>
          <a:bodyPr wrap="square" lIns="73152" rIns="36576">
            <a:spAutoFit/>
          </a:bodyPr>
          <a:lstStyle/>
          <a:p>
            <a:pPr>
              <a:spcAft>
                <a:spcPts val="400"/>
              </a:spcAft>
              <a:defRPr sz="1550">
                <a:solidFill>
                  <a:srgbClr val="172033"/>
                </a:solidFill>
                <a:latin typeface="Aptos"/>
              </a:defRPr>
            </a:pPr>
            <a:r>
              <a:t>•  Only supplied evidence may support factual claims</a:t>
            </a:r>
          </a:p>
          <a:p>
            <a:pPr>
              <a:spcAft>
                <a:spcPts val="400"/>
              </a:spcAft>
              <a:defRPr sz="1550">
                <a:solidFill>
                  <a:srgbClr val="172033"/>
                </a:solidFill>
                <a:latin typeface="Aptos"/>
              </a:defRPr>
            </a:pPr>
            <a:r>
              <a:t>•  Retrieved documents are treated as untrusted text—not instructions</a:t>
            </a:r>
          </a:p>
          <a:p>
            <a:pPr>
              <a:spcAft>
                <a:spcPts val="400"/>
              </a:spcAft>
              <a:defRPr sz="1550">
                <a:solidFill>
                  <a:srgbClr val="172033"/>
                </a:solidFill>
                <a:latin typeface="Aptos"/>
              </a:defRPr>
            </a:pPr>
            <a:r>
              <a:t>•  Impossible citation numbers and invented labels are removed</a:t>
            </a:r>
          </a:p>
          <a:p>
            <a:pPr>
              <a:spcAft>
                <a:spcPts val="400"/>
              </a:spcAft>
              <a:defRPr sz="1550">
                <a:solidFill>
                  <a:srgbClr val="172033"/>
                </a:solidFill>
                <a:latin typeface="Aptos"/>
              </a:defRPr>
            </a:pPr>
            <a:r>
              <a:t>•  A 500-word request receives a larger generation budget and one short-draft correction</a:t>
            </a:r>
          </a:p>
        </p:txBody>
      </p:sp>
      <p:sp>
        <p:nvSpPr>
          <p:cNvPr id="26" name="Rounded Rectangle 25"/>
          <p:cNvSpPr/>
          <p:nvPr/>
        </p:nvSpPr>
        <p:spPr>
          <a:xfrm>
            <a:off x="1417320" y="5760720"/>
            <a:ext cx="9372600" cy="530352"/>
          </a:xfrm>
          <a:prstGeom prst="roundRect">
            <a:avLst/>
          </a:prstGeom>
          <a:solidFill>
            <a:srgbClr val="FFF7E5"/>
          </a:solidFill>
          <a:ln w="12700">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81912" y="5888736"/>
            <a:ext cx="960120" cy="228600"/>
          </a:xfrm>
          <a:prstGeom prst="rect">
            <a:avLst/>
          </a:prstGeom>
          <a:noFill/>
        </p:spPr>
        <p:txBody>
          <a:bodyPr wrap="square" lIns="36576" rIns="36576" tIns="36576" bIns="36576" anchor="t">
            <a:spAutoFit/>
          </a:bodyPr>
          <a:lstStyle/>
          <a:p>
            <a:pPr algn="l">
              <a:defRPr sz="900" b="1">
                <a:solidFill>
                  <a:srgbClr val="F59E0B"/>
                </a:solidFill>
                <a:latin typeface="Aptos"/>
              </a:defRPr>
            </a:pPr>
            <a:r>
              <a:t>HONESTY</a:t>
            </a:r>
          </a:p>
        </p:txBody>
      </p:sp>
      <p:sp>
        <p:nvSpPr>
          <p:cNvPr id="28" name="TextBox 27"/>
          <p:cNvSpPr txBox="1"/>
          <p:nvPr/>
        </p:nvSpPr>
        <p:spPr>
          <a:xfrm>
            <a:off x="2542032" y="5861304"/>
            <a:ext cx="809244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Confidence is a retrieval/evidence signal—not a mathematical guarantee of truth.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CONVERSATION MEMORY</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Follow-up conversations are real persisted context</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13</a:t>
            </a:r>
          </a:p>
        </p:txBody>
      </p:sp>
      <p:sp>
        <p:nvSpPr>
          <p:cNvPr id="7" name="Rounded Rectangle 6"/>
          <p:cNvSpPr/>
          <p:nvPr/>
        </p:nvSpPr>
        <p:spPr>
          <a:xfrm>
            <a:off x="731520" y="1481328"/>
            <a:ext cx="6583680" cy="416052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1755648"/>
            <a:ext cx="2057400" cy="310896"/>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1828800"/>
            <a:ext cx="1911095" cy="164592"/>
          </a:xfrm>
          <a:prstGeom prst="rect">
            <a:avLst/>
          </a:prstGeom>
          <a:noFill/>
        </p:spPr>
        <p:txBody>
          <a:bodyPr wrap="square" lIns="36576" rIns="36576" tIns="36576" bIns="36576" anchor="t">
            <a:spAutoFit/>
          </a:bodyPr>
          <a:lstStyle/>
          <a:p>
            <a:pPr algn="l">
              <a:defRPr sz="850" b="1">
                <a:solidFill>
                  <a:srgbClr val="2F6FED"/>
                </a:solidFill>
                <a:latin typeface="Aptos"/>
              </a:defRPr>
            </a:pPr>
            <a:r>
              <a:t>CONVERSATION: PROJECT_DEMO</a:t>
            </a:r>
          </a:p>
        </p:txBody>
      </p:sp>
      <p:sp>
        <p:nvSpPr>
          <p:cNvPr id="10" name="Rounded Rectangle 9"/>
          <p:cNvSpPr/>
          <p:nvPr/>
        </p:nvSpPr>
        <p:spPr>
          <a:xfrm>
            <a:off x="1078992" y="2331720"/>
            <a:ext cx="5074920" cy="71323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560320"/>
            <a:ext cx="4663440" cy="256032"/>
          </a:xfrm>
          <a:prstGeom prst="rect">
            <a:avLst/>
          </a:prstGeom>
          <a:noFill/>
        </p:spPr>
        <p:txBody>
          <a:bodyPr wrap="square" lIns="36576" rIns="36576" tIns="36576" bIns="36576" anchor="t">
            <a:spAutoFit/>
          </a:bodyPr>
          <a:lstStyle/>
          <a:p>
            <a:pPr algn="l">
              <a:defRPr sz="1500" b="1">
                <a:solidFill>
                  <a:srgbClr val="172033"/>
                </a:solidFill>
                <a:latin typeface="Aptos"/>
              </a:defRPr>
            </a:pPr>
            <a:r>
              <a:t>USER  Tell me about Qdrant.</a:t>
            </a:r>
          </a:p>
        </p:txBody>
      </p:sp>
      <p:sp>
        <p:nvSpPr>
          <p:cNvPr id="12" name="Rounded Rectangle 11"/>
          <p:cNvSpPr/>
          <p:nvPr/>
        </p:nvSpPr>
        <p:spPr>
          <a:xfrm>
            <a:off x="1901952" y="3246120"/>
            <a:ext cx="5029200" cy="859536"/>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21408" y="3456432"/>
            <a:ext cx="4617720" cy="438912"/>
          </a:xfrm>
          <a:prstGeom prst="rect">
            <a:avLst/>
          </a:prstGeom>
          <a:noFill/>
        </p:spPr>
        <p:txBody>
          <a:bodyPr wrap="square" lIns="36576" rIns="36576" tIns="36576" bIns="36576" anchor="t">
            <a:spAutoFit/>
          </a:bodyPr>
          <a:lstStyle/>
          <a:p>
            <a:pPr algn="l">
              <a:defRPr sz="1400" b="0">
                <a:solidFill>
                  <a:srgbClr val="172033"/>
                </a:solidFill>
                <a:latin typeface="Aptos"/>
              </a:defRPr>
            </a:pPr>
            <a:r>
              <a:t>ASSISTANT  Qdrant is the replaceable vector search index… [1]</a:t>
            </a:r>
          </a:p>
        </p:txBody>
      </p:sp>
      <p:sp>
        <p:nvSpPr>
          <p:cNvPr id="14" name="Rounded Rectangle 13"/>
          <p:cNvSpPr/>
          <p:nvPr/>
        </p:nvSpPr>
        <p:spPr>
          <a:xfrm>
            <a:off x="1078992" y="4361688"/>
            <a:ext cx="5074920" cy="71323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8448" y="4590288"/>
            <a:ext cx="4663440" cy="256032"/>
          </a:xfrm>
          <a:prstGeom prst="rect">
            <a:avLst/>
          </a:prstGeom>
          <a:noFill/>
        </p:spPr>
        <p:txBody>
          <a:bodyPr wrap="square" lIns="36576" rIns="36576" tIns="36576" bIns="36576" anchor="t">
            <a:spAutoFit/>
          </a:bodyPr>
          <a:lstStyle/>
          <a:p>
            <a:pPr algn="l">
              <a:defRPr sz="1500" b="1">
                <a:solidFill>
                  <a:srgbClr val="172033"/>
                </a:solidFill>
                <a:latin typeface="Aptos"/>
              </a:defRPr>
            </a:pPr>
            <a:r>
              <a:t>USER  How does it compare with Chroma?</a:t>
            </a:r>
          </a:p>
        </p:txBody>
      </p:sp>
      <p:sp>
        <p:nvSpPr>
          <p:cNvPr id="16" name="Rounded Rectangle 15"/>
          <p:cNvSpPr/>
          <p:nvPr/>
        </p:nvSpPr>
        <p:spPr>
          <a:xfrm>
            <a:off x="7699248" y="1481328"/>
            <a:ext cx="3749039" cy="18288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9248" y="1481328"/>
            <a:ext cx="73152" cy="1828800"/>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1682496"/>
            <a:ext cx="3291839"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Backend behavior</a:t>
            </a:r>
          </a:p>
        </p:txBody>
      </p:sp>
      <p:sp>
        <p:nvSpPr>
          <p:cNvPr id="19" name="TextBox 18"/>
          <p:cNvSpPr txBox="1"/>
          <p:nvPr/>
        </p:nvSpPr>
        <p:spPr>
          <a:xfrm>
            <a:off x="7955279" y="2176272"/>
            <a:ext cx="3255263" cy="1005840"/>
          </a:xfrm>
          <a:prstGeom prst="rect">
            <a:avLst/>
          </a:prstGeom>
          <a:noFill/>
        </p:spPr>
        <p:txBody>
          <a:bodyPr wrap="square" lIns="36576" rIns="36576" tIns="36576" bIns="36576" anchor="t">
            <a:spAutoFit/>
          </a:bodyPr>
          <a:lstStyle/>
          <a:p>
            <a:pPr algn="l">
              <a:defRPr sz="1400" b="0">
                <a:solidFill>
                  <a:srgbClr val="667085"/>
                </a:solidFill>
                <a:latin typeface="Aptos"/>
              </a:defRPr>
            </a:pPr>
            <a:r>
              <a:t>SQLite stores user and assistant messages. The analyzer receives the last eight and rewrites references into a standalone retrieval query.</a:t>
            </a:r>
          </a:p>
        </p:txBody>
      </p:sp>
      <p:sp>
        <p:nvSpPr>
          <p:cNvPr id="20" name="Rounded Rectangle 19"/>
          <p:cNvSpPr/>
          <p:nvPr/>
        </p:nvSpPr>
        <p:spPr>
          <a:xfrm>
            <a:off x="7699248" y="3584448"/>
            <a:ext cx="3749039" cy="18288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99248" y="3584448"/>
            <a:ext cx="73152" cy="182880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3785615"/>
            <a:ext cx="3291839"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Frontend behavior</a:t>
            </a:r>
          </a:p>
        </p:txBody>
      </p:sp>
      <p:sp>
        <p:nvSpPr>
          <p:cNvPr id="23" name="TextBox 22"/>
          <p:cNvSpPr txBox="1"/>
          <p:nvPr/>
        </p:nvSpPr>
        <p:spPr>
          <a:xfrm>
            <a:off x="7955279" y="4279392"/>
            <a:ext cx="3255263" cy="1005840"/>
          </a:xfrm>
          <a:prstGeom prst="rect">
            <a:avLst/>
          </a:prstGeom>
          <a:noFill/>
        </p:spPr>
        <p:txBody>
          <a:bodyPr wrap="square" lIns="36576" rIns="36576" tIns="36576" bIns="36576" anchor="t">
            <a:spAutoFit/>
          </a:bodyPr>
          <a:lstStyle/>
          <a:p>
            <a:pPr algn="l">
              <a:defRPr sz="1400" b="0">
                <a:solidFill>
                  <a:srgbClr val="667085"/>
                </a:solidFill>
                <a:latin typeface="Aptos"/>
              </a:defRPr>
            </a:pPr>
            <a:r>
              <a:t>The UI reloads saved messages by session ID, so follow-ups remain visible after page navigation or reopening a known conversation.</a:t>
            </a:r>
          </a:p>
        </p:txBody>
      </p:sp>
      <p:sp>
        <p:nvSpPr>
          <p:cNvPr id="24" name="Rounded Rectangle 23"/>
          <p:cNvSpPr/>
          <p:nvPr/>
        </p:nvSpPr>
        <p:spPr>
          <a:xfrm>
            <a:off x="2743200" y="5943600"/>
            <a:ext cx="676656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07792" y="6071616"/>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26" name="TextBox 25"/>
          <p:cNvSpPr txBox="1"/>
          <p:nvPr/>
        </p:nvSpPr>
        <p:spPr>
          <a:xfrm>
            <a:off x="3867912" y="6044184"/>
            <a:ext cx="548640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A new conversation ID deliberately starts a clean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UI AND API SURFACE</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Two interfaces, one backend contract</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14</a:t>
            </a:r>
          </a:p>
        </p:txBody>
      </p:sp>
      <p:sp>
        <p:nvSpPr>
          <p:cNvPr id="7" name="Rounded Rectangle 6"/>
          <p:cNvSpPr/>
          <p:nvPr/>
        </p:nvSpPr>
        <p:spPr>
          <a:xfrm>
            <a:off x="658368" y="1463040"/>
            <a:ext cx="5349240" cy="3977639"/>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63040"/>
            <a:ext cx="73152" cy="3977639"/>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664208"/>
            <a:ext cx="420624" cy="420624"/>
          </a:xfrm>
          <a:prstGeom prst="ellipse">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9164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UI</a:t>
            </a:r>
          </a:p>
        </p:txBody>
      </p:sp>
      <p:sp>
        <p:nvSpPr>
          <p:cNvPr id="11" name="TextBox 10"/>
          <p:cNvSpPr txBox="1"/>
          <p:nvPr/>
        </p:nvSpPr>
        <p:spPr>
          <a:xfrm>
            <a:off x="1408176" y="1664208"/>
            <a:ext cx="44165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Streamlit workspace</a:t>
            </a:r>
          </a:p>
        </p:txBody>
      </p:sp>
      <p:sp>
        <p:nvSpPr>
          <p:cNvPr id="12" name="TextBox 11"/>
          <p:cNvSpPr txBox="1"/>
          <p:nvPr/>
        </p:nvSpPr>
        <p:spPr>
          <a:xfrm>
            <a:off x="914400" y="2157984"/>
            <a:ext cx="4855464" cy="3154679"/>
          </a:xfrm>
          <a:prstGeom prst="rect">
            <a:avLst/>
          </a:prstGeom>
          <a:noFill/>
        </p:spPr>
        <p:txBody>
          <a:bodyPr wrap="square" lIns="36576" rIns="36576" tIns="36576" bIns="36576" anchor="t">
            <a:spAutoFit/>
          </a:bodyPr>
          <a:lstStyle/>
          <a:p>
            <a:pPr algn="l">
              <a:defRPr sz="1450" b="0">
                <a:solidFill>
                  <a:srgbClr val="667085"/>
                </a:solidFill>
                <a:latin typeface="Aptos"/>
              </a:defRPr>
            </a:pPr>
            <a:r>
              <a:t>ASK</a:t>
            </a:r>
            <a:br/>
            <a:r>
              <a:t>Grounded chat, SSE progress, citations, follow-ups</a:t>
            </a:r>
            <a:br/>
            <a:br/>
            <a:r>
              <a:t>LIBRARY</a:t>
            </a:r>
            <a:br/>
            <a:r>
              <a:t>Multi-file upload, document list, safe delete</a:t>
            </a:r>
            <a:br/>
            <a:br/>
            <a:r>
              <a:t>OPERATIONS / INSIGHTS / DIAGNOSTICS</a:t>
            </a:r>
            <a:br/>
            <a:r>
              <a:t>Health, reindex, stats, analytics, query detail, traces</a:t>
            </a:r>
          </a:p>
        </p:txBody>
      </p:sp>
      <p:sp>
        <p:nvSpPr>
          <p:cNvPr id="13" name="Rounded Rectangle 12"/>
          <p:cNvSpPr/>
          <p:nvPr/>
        </p:nvSpPr>
        <p:spPr>
          <a:xfrm>
            <a:off x="6199632" y="1463040"/>
            <a:ext cx="5349240" cy="3977639"/>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63040"/>
            <a:ext cx="73152" cy="3977639"/>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19088" y="1664208"/>
            <a:ext cx="420624" cy="420624"/>
          </a:xfrm>
          <a:prstGeom prst="ellipse">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69164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API</a:t>
            </a:r>
          </a:p>
        </p:txBody>
      </p:sp>
      <p:sp>
        <p:nvSpPr>
          <p:cNvPr id="17" name="TextBox 16"/>
          <p:cNvSpPr txBox="1"/>
          <p:nvPr/>
        </p:nvSpPr>
        <p:spPr>
          <a:xfrm>
            <a:off x="6949440" y="1664208"/>
            <a:ext cx="44165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FastAPI contract</a:t>
            </a:r>
          </a:p>
        </p:txBody>
      </p:sp>
      <p:sp>
        <p:nvSpPr>
          <p:cNvPr id="18" name="TextBox 17"/>
          <p:cNvSpPr txBox="1"/>
          <p:nvPr/>
        </p:nvSpPr>
        <p:spPr>
          <a:xfrm>
            <a:off x="6455664" y="2157984"/>
            <a:ext cx="4855464" cy="3154679"/>
          </a:xfrm>
          <a:prstGeom prst="rect">
            <a:avLst/>
          </a:prstGeom>
          <a:noFill/>
        </p:spPr>
        <p:txBody>
          <a:bodyPr wrap="square" lIns="36576" rIns="36576" tIns="36576" bIns="36576" anchor="t">
            <a:spAutoFit/>
          </a:bodyPr>
          <a:lstStyle/>
          <a:p>
            <a:pPr algn="l">
              <a:defRPr sz="1450" b="0">
                <a:solidFill>
                  <a:srgbClr val="667085"/>
                </a:solidFill>
                <a:latin typeface="Aptos"/>
              </a:defRPr>
            </a:pPr>
            <a:r>
              <a:t>DOCUMENTS</a:t>
            </a:r>
            <a:br/>
            <a:r>
              <a:t>Ingest, list, delete, reindex</a:t>
            </a:r>
            <a:br/>
            <a:br/>
            <a:r>
              <a:t>QUERY</a:t>
            </a:r>
            <a:br/>
            <a:r>
              <a:t>Normal JSON, SSE, history, conversation messages, trace</a:t>
            </a:r>
            <a:br/>
            <a:br/>
            <a:r>
              <a:t>OBSERVABILITY</a:t>
            </a:r>
            <a:br/>
            <a:r>
              <a:t>Health, question analytics, comparisons, overall stats</a:t>
            </a:r>
          </a:p>
        </p:txBody>
      </p:sp>
      <p:sp>
        <p:nvSpPr>
          <p:cNvPr id="19" name="Rounded Rectangle 18"/>
          <p:cNvSpPr/>
          <p:nvPr/>
        </p:nvSpPr>
        <p:spPr>
          <a:xfrm>
            <a:off x="1417320" y="5806440"/>
            <a:ext cx="9372600" cy="530352"/>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81912" y="5934455"/>
            <a:ext cx="960120" cy="228600"/>
          </a:xfrm>
          <a:prstGeom prst="rect">
            <a:avLst/>
          </a:prstGeom>
          <a:noFill/>
        </p:spPr>
        <p:txBody>
          <a:bodyPr wrap="square" lIns="36576" rIns="36576" tIns="36576" bIns="36576" anchor="t">
            <a:spAutoFit/>
          </a:bodyPr>
          <a:lstStyle/>
          <a:p>
            <a:pPr algn="l">
              <a:defRPr sz="900" b="1">
                <a:solidFill>
                  <a:srgbClr val="13795B"/>
                </a:solidFill>
                <a:latin typeface="Aptos"/>
              </a:defRPr>
            </a:pPr>
            <a:r>
              <a:t>OPEN</a:t>
            </a:r>
          </a:p>
        </p:txBody>
      </p:sp>
      <p:sp>
        <p:nvSpPr>
          <p:cNvPr id="21" name="TextBox 20"/>
          <p:cNvSpPr txBox="1"/>
          <p:nvPr/>
        </p:nvSpPr>
        <p:spPr>
          <a:xfrm>
            <a:off x="2542032" y="5907024"/>
            <a:ext cx="809244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Interactive API documentation: http://localhost:8000/docs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FROM GIT CLONE TO READY</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New-computer setup: Windows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15</a:t>
            </a:r>
          </a:p>
        </p:txBody>
      </p:sp>
      <p:sp>
        <p:nvSpPr>
          <p:cNvPr id="7" name="Rounded Rectangle 6"/>
          <p:cNvSpPr/>
          <p:nvPr/>
        </p:nvSpPr>
        <p:spPr>
          <a:xfrm>
            <a:off x="621792" y="1389888"/>
            <a:ext cx="3749039" cy="43708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1389888"/>
            <a:ext cx="73152" cy="4370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 y="1591056"/>
            <a:ext cx="420624" cy="42062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18488"/>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1</a:t>
            </a:r>
          </a:p>
        </p:txBody>
      </p:sp>
      <p:sp>
        <p:nvSpPr>
          <p:cNvPr id="11" name="TextBox 10"/>
          <p:cNvSpPr txBox="1"/>
          <p:nvPr/>
        </p:nvSpPr>
        <p:spPr>
          <a:xfrm>
            <a:off x="1371600" y="1591056"/>
            <a:ext cx="2816351"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Prerequisites</a:t>
            </a:r>
          </a:p>
        </p:txBody>
      </p:sp>
      <p:sp>
        <p:nvSpPr>
          <p:cNvPr id="12" name="TextBox 11"/>
          <p:cNvSpPr txBox="1"/>
          <p:nvPr/>
        </p:nvSpPr>
        <p:spPr>
          <a:xfrm>
            <a:off x="877824" y="2084832"/>
            <a:ext cx="3255263" cy="3547872"/>
          </a:xfrm>
          <a:prstGeom prst="rect">
            <a:avLst/>
          </a:prstGeom>
          <a:noFill/>
        </p:spPr>
        <p:txBody>
          <a:bodyPr wrap="square" lIns="36576" rIns="36576" tIns="36576" bIns="36576" anchor="t">
            <a:spAutoFit/>
          </a:bodyPr>
          <a:lstStyle/>
          <a:p>
            <a:pPr algn="l">
              <a:defRPr sz="1500" b="0">
                <a:solidFill>
                  <a:srgbClr val="667085"/>
                </a:solidFill>
                <a:latin typeface="Aptos"/>
              </a:defRPr>
            </a:pPr>
            <a:r>
              <a:t>• Git</a:t>
            </a:r>
            <a:br/>
            <a:r>
              <a:t>• 64-bit Python 3.12</a:t>
            </a:r>
            <a:br/>
            <a:r>
              <a:t>• Docker Desktop</a:t>
            </a:r>
            <a:br/>
            <a:r>
              <a:t>• Ollama</a:t>
            </a:r>
            <a:br/>
            <a:br/>
            <a:r>
              <a:t>Python 3.10 is not sufficient. Python versions can coexist. Start Docker Desktop and Ollama before setup.</a:t>
            </a:r>
          </a:p>
        </p:txBody>
      </p:sp>
      <p:sp>
        <p:nvSpPr>
          <p:cNvPr id="13" name="Rounded Rectangle 12"/>
          <p:cNvSpPr/>
          <p:nvPr/>
        </p:nvSpPr>
        <p:spPr>
          <a:xfrm>
            <a:off x="4617720" y="1389888"/>
            <a:ext cx="6903720" cy="2212848"/>
          </a:xfrm>
          <a:prstGeom prst="roundRect">
            <a:avLst/>
          </a:prstGeom>
          <a:solidFill>
            <a:srgbClr val="121A2B"/>
          </a:solidFill>
          <a:ln w="12700">
            <a:solidFill>
              <a:srgbClr val="121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1536192"/>
            <a:ext cx="6537959" cy="1956815"/>
          </a:xfrm>
          <a:prstGeom prst="rect">
            <a:avLst/>
          </a:prstGeom>
          <a:noFill/>
        </p:spPr>
        <p:txBody>
          <a:bodyPr wrap="square" lIns="36576" rIns="36576" tIns="36576" bIns="36576" anchor="t">
            <a:spAutoFit/>
          </a:bodyPr>
          <a:lstStyle/>
          <a:p>
            <a:pPr algn="l">
              <a:defRPr sz="1150" b="0">
                <a:solidFill>
                  <a:srgbClr val="E2E8F0"/>
                </a:solidFill>
                <a:latin typeface="Cascadia Mono"/>
              </a:defRPr>
            </a:pPr>
            <a:r>
              <a:t>git clone https://github.com/deb-cod/ausm-rag</a:t>
            </a:r>
            <a:br/>
            <a:r>
              <a:t>cd ausm-rag</a:t>
            </a:r>
            <a:br/>
            <a:r>
              <a:t>powershell -ExecutionPolicy Bypass -File .\scripts\setup.ps1</a:t>
            </a:r>
            <a:br/>
            <a:r>
              <a:t>powershell -ExecutionPolicy Bypass -File .\scripts\doctor.ps1</a:t>
            </a:r>
          </a:p>
        </p:txBody>
      </p:sp>
      <p:sp>
        <p:nvSpPr>
          <p:cNvPr id="15" name="Rounded Rectangle 14"/>
          <p:cNvSpPr/>
          <p:nvPr/>
        </p:nvSpPr>
        <p:spPr>
          <a:xfrm>
            <a:off x="4617720" y="3858768"/>
            <a:ext cx="6903720" cy="190195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7720" y="3858768"/>
            <a:ext cx="73152" cy="1901952"/>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3752" y="4059935"/>
            <a:ext cx="6446520"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What setup automates</a:t>
            </a:r>
          </a:p>
        </p:txBody>
      </p:sp>
      <p:sp>
        <p:nvSpPr>
          <p:cNvPr id="18" name="TextBox 17"/>
          <p:cNvSpPr txBox="1"/>
          <p:nvPr/>
        </p:nvSpPr>
        <p:spPr>
          <a:xfrm>
            <a:off x="4873752" y="4553712"/>
            <a:ext cx="6409944" cy="1078992"/>
          </a:xfrm>
          <a:prstGeom prst="rect">
            <a:avLst/>
          </a:prstGeom>
          <a:noFill/>
        </p:spPr>
        <p:txBody>
          <a:bodyPr wrap="square" lIns="36576" rIns="36576" tIns="36576" bIns="36576" anchor="t">
            <a:spAutoFit/>
          </a:bodyPr>
          <a:lstStyle/>
          <a:p>
            <a:pPr algn="l">
              <a:defRPr sz="1450" b="0">
                <a:solidFill>
                  <a:srgbClr val="667085"/>
                </a:solidFill>
                <a:latin typeface="Aptos"/>
              </a:defRPr>
            </a:pPr>
            <a:r>
              <a:t>Find Python 3.12 → create/recreate .venv → install pinned direct dependencies → create .env → verify/pull Ollama models → start Qdrant → wait for health. Doctor independently verifies the final state.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OPERATIONAL WALKTHROUGH</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Daily startup and live-demo script</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16</a:t>
            </a:r>
          </a:p>
        </p:txBody>
      </p:sp>
      <p:sp>
        <p:nvSpPr>
          <p:cNvPr id="7" name="Rounded Rectangle 6"/>
          <p:cNvSpPr/>
          <p:nvPr/>
        </p:nvSpPr>
        <p:spPr>
          <a:xfrm>
            <a:off x="658368" y="1417320"/>
            <a:ext cx="5349240" cy="2240280"/>
          </a:xfrm>
          <a:prstGeom prst="roundRect">
            <a:avLst/>
          </a:prstGeom>
          <a:solidFill>
            <a:srgbClr val="121A2B"/>
          </a:solidFill>
          <a:ln w="12700">
            <a:solidFill>
              <a:srgbClr val="121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563624"/>
            <a:ext cx="4983479" cy="1984248"/>
          </a:xfrm>
          <a:prstGeom prst="rect">
            <a:avLst/>
          </a:prstGeom>
          <a:noFill/>
        </p:spPr>
        <p:txBody>
          <a:bodyPr wrap="square" lIns="36576" rIns="36576" tIns="36576" bIns="36576" anchor="t">
            <a:spAutoFit/>
          </a:bodyPr>
          <a:lstStyle/>
          <a:p>
            <a:pPr algn="l">
              <a:defRPr sz="1200" b="0">
                <a:solidFill>
                  <a:srgbClr val="E2E8F0"/>
                </a:solidFill>
                <a:latin typeface="Cascadia Mono"/>
              </a:defRPr>
            </a:pPr>
            <a:r>
              <a:t># Terminal 1 — API</a:t>
            </a:r>
            <a:br/>
            <a:r>
              <a:t>.\.venv\Scripts\python.exe -m uvicorn app.main:app --reload</a:t>
            </a:r>
            <a:br/>
            <a:br/>
            <a:r>
              <a:t># Terminal 2 — UI</a:t>
            </a:r>
            <a:br/>
            <a:r>
              <a:t>.\.venv\Scripts\python.exe -m streamlit run frontend/app.py</a:t>
            </a:r>
          </a:p>
        </p:txBody>
      </p:sp>
      <p:sp>
        <p:nvSpPr>
          <p:cNvPr id="9" name="TextBox 8"/>
          <p:cNvSpPr txBox="1"/>
          <p:nvPr/>
        </p:nvSpPr>
        <p:spPr>
          <a:xfrm>
            <a:off x="6428232" y="1481328"/>
            <a:ext cx="2377440" cy="329184"/>
          </a:xfrm>
          <a:prstGeom prst="rect">
            <a:avLst/>
          </a:prstGeom>
          <a:noFill/>
        </p:spPr>
        <p:txBody>
          <a:bodyPr wrap="square" lIns="36576" rIns="36576" tIns="36576" bIns="36576" anchor="t">
            <a:spAutoFit/>
          </a:bodyPr>
          <a:lstStyle/>
          <a:p>
            <a:pPr algn="l">
              <a:defRPr sz="2000" b="1">
                <a:solidFill>
                  <a:srgbClr val="172033"/>
                </a:solidFill>
                <a:latin typeface="Aptos"/>
              </a:defRPr>
            </a:pPr>
            <a:r>
              <a:t>Demo sequence</a:t>
            </a:r>
          </a:p>
        </p:txBody>
      </p:sp>
      <p:sp>
        <p:nvSpPr>
          <p:cNvPr id="10" name="TextBox 9"/>
          <p:cNvSpPr txBox="1"/>
          <p:nvPr/>
        </p:nvSpPr>
        <p:spPr>
          <a:xfrm>
            <a:off x="6419088" y="1965960"/>
            <a:ext cx="4937760" cy="3108960"/>
          </a:xfrm>
          <a:prstGeom prst="rect">
            <a:avLst/>
          </a:prstGeom>
          <a:noFill/>
        </p:spPr>
        <p:txBody>
          <a:bodyPr wrap="square" lIns="73152" rIns="36576">
            <a:spAutoFit/>
          </a:bodyPr>
          <a:lstStyle/>
          <a:p>
            <a:pPr>
              <a:spcAft>
                <a:spcPts val="600"/>
              </a:spcAft>
              <a:defRPr sz="1550">
                <a:solidFill>
                  <a:srgbClr val="172033"/>
                </a:solidFill>
                <a:latin typeface="Aptos"/>
              </a:defRPr>
            </a:pPr>
            <a:r>
              <a:t>•  Open http://localhost:8501</a:t>
            </a:r>
          </a:p>
          <a:p>
            <a:pPr>
              <a:spcAft>
                <a:spcPts val="600"/>
              </a:spcAft>
              <a:defRPr sz="1550">
                <a:solidFill>
                  <a:srgbClr val="172033"/>
                </a:solidFill>
                <a:latin typeface="Aptos"/>
              </a:defRPr>
            </a:pPr>
            <a:r>
              <a:t>•  Operations: prove every service is healthy</a:t>
            </a:r>
          </a:p>
          <a:p>
            <a:pPr>
              <a:spcAft>
                <a:spcPts val="600"/>
              </a:spcAft>
              <a:defRPr sz="1550">
                <a:solidFill>
                  <a:srgbClr val="172033"/>
                </a:solidFill>
                <a:latin typeface="Aptos"/>
              </a:defRPr>
            </a:pPr>
            <a:r>
              <a:t>•  Library: upload a small text PDF</a:t>
            </a:r>
          </a:p>
          <a:p>
            <a:pPr>
              <a:spcAft>
                <a:spcPts val="600"/>
              </a:spcAft>
              <a:defRPr sz="1550">
                <a:solidFill>
                  <a:srgbClr val="172033"/>
                </a:solidFill>
                <a:latin typeface="Aptos"/>
              </a:defRPr>
            </a:pPr>
            <a:r>
              <a:t>•  Ask: factual → summary → follow-up → comparison</a:t>
            </a:r>
          </a:p>
          <a:p>
            <a:pPr>
              <a:spcAft>
                <a:spcPts val="600"/>
              </a:spcAft>
              <a:defRPr sz="1550">
                <a:solidFill>
                  <a:srgbClr val="172033"/>
                </a:solidFill>
                <a:latin typeface="Aptos"/>
              </a:defRPr>
            </a:pPr>
            <a:r>
              <a:t>•  Expand citations; open Diagnostics trace</a:t>
            </a:r>
          </a:p>
          <a:p>
            <a:pPr>
              <a:spcAft>
                <a:spcPts val="600"/>
              </a:spcAft>
              <a:defRPr sz="1550">
                <a:solidFill>
                  <a:srgbClr val="172033"/>
                </a:solidFill>
                <a:latin typeface="Aptos"/>
              </a:defRPr>
            </a:pPr>
            <a:r>
              <a:t>•  Restart UI and reopen the same session ID</a:t>
            </a:r>
          </a:p>
        </p:txBody>
      </p:sp>
      <p:sp>
        <p:nvSpPr>
          <p:cNvPr id="11" name="Rounded Rectangle 10"/>
          <p:cNvSpPr/>
          <p:nvPr/>
        </p:nvSpPr>
        <p:spPr>
          <a:xfrm>
            <a:off x="960120" y="5760720"/>
            <a:ext cx="10241280" cy="530352"/>
          </a:xfrm>
          <a:prstGeom prst="roundRect">
            <a:avLst/>
          </a:prstGeom>
          <a:solidFill>
            <a:srgbClr val="FFF7E5"/>
          </a:solidFill>
          <a:ln w="12700">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5888736"/>
            <a:ext cx="960120" cy="228600"/>
          </a:xfrm>
          <a:prstGeom prst="rect">
            <a:avLst/>
          </a:prstGeom>
          <a:noFill/>
        </p:spPr>
        <p:txBody>
          <a:bodyPr wrap="square" lIns="36576" rIns="36576" tIns="36576" bIns="36576" anchor="t">
            <a:spAutoFit/>
          </a:bodyPr>
          <a:lstStyle/>
          <a:p>
            <a:pPr algn="l">
              <a:defRPr sz="900" b="1">
                <a:solidFill>
                  <a:srgbClr val="F59E0B"/>
                </a:solidFill>
                <a:latin typeface="Aptos"/>
              </a:defRPr>
            </a:pPr>
            <a:r>
              <a:t>DEMO TIP</a:t>
            </a:r>
          </a:p>
        </p:txBody>
      </p:sp>
      <p:sp>
        <p:nvSpPr>
          <p:cNvPr id="13" name="TextBox 12"/>
          <p:cNvSpPr txBox="1"/>
          <p:nvPr/>
        </p:nvSpPr>
        <p:spPr>
          <a:xfrm>
            <a:off x="2084832" y="5861304"/>
            <a:ext cx="89611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Keep a small known-good document ready; avoid first-time model downloads during the presentation.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OPERATIONS</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Troubleshooting by symptom</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17</a:t>
            </a:r>
          </a:p>
        </p:txBody>
      </p:sp>
      <p:sp>
        <p:nvSpPr>
          <p:cNvPr id="7" name="Rounded Rectangle 6"/>
          <p:cNvSpPr/>
          <p:nvPr/>
        </p:nvSpPr>
        <p:spPr>
          <a:xfrm>
            <a:off x="658368" y="1335024"/>
            <a:ext cx="10881360" cy="62179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499616"/>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UI says API offline</a:t>
            </a:r>
          </a:p>
        </p:txBody>
      </p:sp>
      <p:sp>
        <p:nvSpPr>
          <p:cNvPr id="9" name="TextBox 8"/>
          <p:cNvSpPr txBox="1"/>
          <p:nvPr/>
        </p:nvSpPr>
        <p:spPr>
          <a:xfrm>
            <a:off x="3730752" y="1499616"/>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Start Uvicorn; verify http://localhost:8000/health</a:t>
            </a:r>
          </a:p>
        </p:txBody>
      </p:sp>
      <p:sp>
        <p:nvSpPr>
          <p:cNvPr id="10" name="Rounded Rectangle 9"/>
          <p:cNvSpPr/>
          <p:nvPr/>
        </p:nvSpPr>
        <p:spPr>
          <a:xfrm>
            <a:off x="658368" y="2002536"/>
            <a:ext cx="10881360" cy="621792"/>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67128"/>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Health is degraded</a:t>
            </a:r>
          </a:p>
        </p:txBody>
      </p:sp>
      <p:sp>
        <p:nvSpPr>
          <p:cNvPr id="12" name="TextBox 11"/>
          <p:cNvSpPr txBox="1"/>
          <p:nvPr/>
        </p:nvSpPr>
        <p:spPr>
          <a:xfrm>
            <a:off x="3730752" y="2167128"/>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Start Docker Desktop/Qdrant and Ollama; read the failing component</a:t>
            </a:r>
          </a:p>
        </p:txBody>
      </p:sp>
      <p:sp>
        <p:nvSpPr>
          <p:cNvPr id="13" name="Rounded Rectangle 12"/>
          <p:cNvSpPr/>
          <p:nvPr/>
        </p:nvSpPr>
        <p:spPr>
          <a:xfrm>
            <a:off x="658368" y="2670048"/>
            <a:ext cx="10881360" cy="62179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834640"/>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PDF/content mismatch</a:t>
            </a:r>
          </a:p>
        </p:txBody>
      </p:sp>
      <p:sp>
        <p:nvSpPr>
          <p:cNvPr id="15" name="TextBox 14"/>
          <p:cNvSpPr txBox="1"/>
          <p:nvPr/>
        </p:nvSpPr>
        <p:spPr>
          <a:xfrm>
            <a:off x="3730752" y="2834640"/>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The file is not a real PDF despite its extension; export a clean PDF</a:t>
            </a:r>
          </a:p>
        </p:txBody>
      </p:sp>
      <p:sp>
        <p:nvSpPr>
          <p:cNvPr id="16" name="Rounded Rectangle 15"/>
          <p:cNvSpPr/>
          <p:nvPr/>
        </p:nvSpPr>
        <p:spPr>
          <a:xfrm>
            <a:off x="658368" y="3337560"/>
            <a:ext cx="10881360" cy="621792"/>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502152"/>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Conversion produced no text</a:t>
            </a:r>
          </a:p>
        </p:txBody>
      </p:sp>
      <p:sp>
        <p:nvSpPr>
          <p:cNvPr id="18" name="TextBox 17"/>
          <p:cNvSpPr txBox="1"/>
          <p:nvPr/>
        </p:nvSpPr>
        <p:spPr>
          <a:xfrm>
            <a:off x="3730752" y="3502152"/>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Likely scanned/image-only PDF; perform OCR first</a:t>
            </a:r>
          </a:p>
        </p:txBody>
      </p:sp>
      <p:sp>
        <p:nvSpPr>
          <p:cNvPr id="19" name="Rounded Rectangle 18"/>
          <p:cNvSpPr/>
          <p:nvPr/>
        </p:nvSpPr>
        <p:spPr>
          <a:xfrm>
            <a:off x="658368" y="4005072"/>
            <a:ext cx="10881360" cy="62179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169663"/>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No indexed information</a:t>
            </a:r>
          </a:p>
        </p:txBody>
      </p:sp>
      <p:sp>
        <p:nvSpPr>
          <p:cNvPr id="21" name="TextBox 20"/>
          <p:cNvSpPr txBox="1"/>
          <p:nvPr/>
        </p:nvSpPr>
        <p:spPr>
          <a:xfrm>
            <a:off x="3730752" y="4169663"/>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Check Library; start Qdrant; rebuild from OKF if necessary</a:t>
            </a:r>
          </a:p>
        </p:txBody>
      </p:sp>
      <p:sp>
        <p:nvSpPr>
          <p:cNvPr id="22" name="Rounded Rectangle 21"/>
          <p:cNvSpPr/>
          <p:nvPr/>
        </p:nvSpPr>
        <p:spPr>
          <a:xfrm>
            <a:off x="658368" y="4672583"/>
            <a:ext cx="10881360" cy="621792"/>
          </a:xfrm>
          <a:prstGeom prst="roundRect">
            <a:avLst/>
          </a:prstGeom>
          <a:solidFill>
            <a:srgbClr val="F4F7FC"/>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837175"/>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Answer is unrelated</a:t>
            </a:r>
          </a:p>
        </p:txBody>
      </p:sp>
      <p:sp>
        <p:nvSpPr>
          <p:cNvPr id="24" name="TextBox 23"/>
          <p:cNvSpPr txBox="1"/>
          <p:nvPr/>
        </p:nvSpPr>
        <p:spPr>
          <a:xfrm>
            <a:off x="3730752" y="4837175"/>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Inspect sources/trace; ask more specifically; improve document extraction</a:t>
            </a:r>
          </a:p>
        </p:txBody>
      </p:sp>
      <p:sp>
        <p:nvSpPr>
          <p:cNvPr id="25" name="Rounded Rectangle 24"/>
          <p:cNvSpPr/>
          <p:nvPr/>
        </p:nvSpPr>
        <p:spPr>
          <a:xfrm>
            <a:off x="658368" y="5340096"/>
            <a:ext cx="10881360" cy="62179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504688"/>
            <a:ext cx="2880360" cy="219456"/>
          </a:xfrm>
          <a:prstGeom prst="rect">
            <a:avLst/>
          </a:prstGeom>
          <a:noFill/>
        </p:spPr>
        <p:txBody>
          <a:bodyPr wrap="square" lIns="36576" rIns="36576" tIns="36576" bIns="36576" anchor="t">
            <a:spAutoFit/>
          </a:bodyPr>
          <a:lstStyle/>
          <a:p>
            <a:pPr algn="l">
              <a:defRPr sz="1350" b="1">
                <a:solidFill>
                  <a:srgbClr val="FF4D4F"/>
                </a:solidFill>
                <a:latin typeface="Aptos"/>
              </a:defRPr>
            </a:pPr>
            <a:r>
              <a:t>First answer is slow</a:t>
            </a:r>
          </a:p>
        </p:txBody>
      </p:sp>
      <p:sp>
        <p:nvSpPr>
          <p:cNvPr id="27" name="TextBox 26"/>
          <p:cNvSpPr txBox="1"/>
          <p:nvPr/>
        </p:nvSpPr>
        <p:spPr>
          <a:xfrm>
            <a:off x="3730752" y="5504688"/>
            <a:ext cx="7406640" cy="246888"/>
          </a:xfrm>
          <a:prstGeom prst="rect">
            <a:avLst/>
          </a:prstGeom>
          <a:noFill/>
        </p:spPr>
        <p:txBody>
          <a:bodyPr wrap="square" lIns="36576" rIns="36576" tIns="36576" bIns="36576" anchor="t">
            <a:spAutoFit/>
          </a:bodyPr>
          <a:lstStyle/>
          <a:p>
            <a:pPr algn="l">
              <a:defRPr sz="1320" b="0">
                <a:solidFill>
                  <a:srgbClr val="172033"/>
                </a:solidFill>
                <a:latin typeface="Aptos"/>
              </a:defRPr>
            </a:pPr>
            <a:r>
              <a:t>Ollama may be loading the model; later requests are usually faster</a:t>
            </a:r>
          </a:p>
        </p:txBody>
      </p:sp>
      <p:sp>
        <p:nvSpPr>
          <p:cNvPr id="28" name="Rounded Rectangle 27"/>
          <p:cNvSpPr/>
          <p:nvPr/>
        </p:nvSpPr>
        <p:spPr>
          <a:xfrm>
            <a:off x="1280160" y="6144768"/>
            <a:ext cx="955548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4751" y="6272783"/>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30" name="TextBox 29"/>
          <p:cNvSpPr txBox="1"/>
          <p:nvPr/>
        </p:nvSpPr>
        <p:spPr>
          <a:xfrm>
            <a:off x="2404872" y="6245352"/>
            <a:ext cx="82753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Run scripts/doctor.ps1 first—it converts many vague failures into one named component.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RISK MANAGEMENT</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Security boundaries and honest limitations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18</a:t>
            </a:r>
          </a:p>
        </p:txBody>
      </p:sp>
      <p:sp>
        <p:nvSpPr>
          <p:cNvPr id="7" name="Rounded Rectangle 6"/>
          <p:cNvSpPr/>
          <p:nvPr/>
        </p:nvSpPr>
        <p:spPr>
          <a:xfrm>
            <a:off x="658368" y="1417320"/>
            <a:ext cx="5349240" cy="43434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17320"/>
            <a:ext cx="73152" cy="4343400"/>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618488"/>
            <a:ext cx="420624" cy="420624"/>
          </a:xfrm>
          <a:prstGeom prst="ellipse">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64592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1" name="TextBox 10"/>
          <p:cNvSpPr txBox="1"/>
          <p:nvPr/>
        </p:nvSpPr>
        <p:spPr>
          <a:xfrm>
            <a:off x="1408176" y="1618488"/>
            <a:ext cx="44165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Built-in protections</a:t>
            </a:r>
          </a:p>
        </p:txBody>
      </p:sp>
      <p:sp>
        <p:nvSpPr>
          <p:cNvPr id="12" name="TextBox 11"/>
          <p:cNvSpPr txBox="1"/>
          <p:nvPr/>
        </p:nvSpPr>
        <p:spPr>
          <a:xfrm>
            <a:off x="914400" y="2112264"/>
            <a:ext cx="4855464" cy="3520440"/>
          </a:xfrm>
          <a:prstGeom prst="rect">
            <a:avLst/>
          </a:prstGeom>
          <a:noFill/>
        </p:spPr>
        <p:txBody>
          <a:bodyPr wrap="square" lIns="36576" rIns="36576" tIns="36576" bIns="36576" anchor="t">
            <a:spAutoFit/>
          </a:bodyPr>
          <a:lstStyle/>
          <a:p>
            <a:pPr algn="l">
              <a:defRPr sz="1500" b="0">
                <a:solidFill>
                  <a:srgbClr val="667085"/>
                </a:solidFill>
                <a:latin typeface="Aptos"/>
              </a:defRPr>
            </a:pPr>
            <a:r>
              <a:t>• Local inference and storage by default</a:t>
            </a:r>
            <a:br/>
            <a:r>
              <a:t>• Filename, size, type, and PDF-signature validation</a:t>
            </a:r>
            <a:br/>
            <a:r>
              <a:t>• Document text treated as untrusted prompt input</a:t>
            </a:r>
            <a:br/>
            <a:r>
              <a:t>• Evidence-only answers and supported no-answer</a:t>
            </a:r>
            <a:br/>
            <a:r>
              <a:t>• Citation-number validation</a:t>
            </a:r>
            <a:br/>
            <a:r>
              <a:t>• Loopback-only default services</a:t>
            </a:r>
            <a:br/>
            <a:r>
              <a:t>• Uploaded data excluded from Git</a:t>
            </a:r>
          </a:p>
        </p:txBody>
      </p:sp>
      <p:sp>
        <p:nvSpPr>
          <p:cNvPr id="13" name="Rounded Rectangle 12"/>
          <p:cNvSpPr/>
          <p:nvPr/>
        </p:nvSpPr>
        <p:spPr>
          <a:xfrm>
            <a:off x="6199632" y="1417320"/>
            <a:ext cx="5349240" cy="4343400"/>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17320"/>
            <a:ext cx="73152" cy="4343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19088" y="1618488"/>
            <a:ext cx="420624" cy="42062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645920"/>
            <a:ext cx="402336" cy="329184"/>
          </a:xfrm>
          <a:prstGeom prst="rect">
            <a:avLst/>
          </a:prstGeom>
          <a:noFill/>
        </p:spPr>
        <p:txBody>
          <a:bodyPr wrap="square" lIns="36576" rIns="36576" tIns="36576" bIns="36576" anchor="t">
            <a:spAutoFit/>
          </a:bodyPr>
          <a:lstStyle/>
          <a:p>
            <a:pPr algn="ctr">
              <a:defRPr sz="1500" b="1">
                <a:solidFill>
                  <a:srgbClr val="FFFFFF"/>
                </a:solidFill>
                <a:latin typeface="Aptos"/>
              </a:defRPr>
            </a:pPr>
            <a:r>
              <a:t>!</a:t>
            </a:r>
          </a:p>
        </p:txBody>
      </p:sp>
      <p:sp>
        <p:nvSpPr>
          <p:cNvPr id="17" name="TextBox 16"/>
          <p:cNvSpPr txBox="1"/>
          <p:nvPr/>
        </p:nvSpPr>
        <p:spPr>
          <a:xfrm>
            <a:off x="6949440" y="1618488"/>
            <a:ext cx="4416552"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Current limits</a:t>
            </a:r>
          </a:p>
        </p:txBody>
      </p:sp>
      <p:sp>
        <p:nvSpPr>
          <p:cNvPr id="18" name="TextBox 17"/>
          <p:cNvSpPr txBox="1"/>
          <p:nvPr/>
        </p:nvSpPr>
        <p:spPr>
          <a:xfrm>
            <a:off x="6455664" y="2112264"/>
            <a:ext cx="4855464" cy="3520440"/>
          </a:xfrm>
          <a:prstGeom prst="rect">
            <a:avLst/>
          </a:prstGeom>
          <a:noFill/>
        </p:spPr>
        <p:txBody>
          <a:bodyPr wrap="square" lIns="36576" rIns="36576" tIns="36576" bIns="36576" anchor="t">
            <a:spAutoFit/>
          </a:bodyPr>
          <a:lstStyle/>
          <a:p>
            <a:pPr algn="l">
              <a:defRPr sz="1500" b="0">
                <a:solidFill>
                  <a:srgbClr val="667085"/>
                </a:solidFill>
                <a:latin typeface="Aptos"/>
              </a:defRPr>
            </a:pPr>
            <a:r>
              <a:t>• No OCR for image-only documents</a:t>
            </a:r>
            <a:br/>
            <a:r>
              <a:t>• No authentication or multi-user authorization</a:t>
            </a:r>
            <a:br/>
            <a:r>
              <a:t>• Local-machine deployment, not production HA</a:t>
            </a:r>
            <a:br/>
            <a:r>
              <a:t>• Retrieval quality depends on extraction and source quality</a:t>
            </a:r>
            <a:br/>
            <a:r>
              <a:t>• Confidence is heuristic</a:t>
            </a:r>
            <a:br/>
            <a:r>
              <a:t>• No automatic sync after manual OKF edits</a:t>
            </a:r>
            <a:br/>
            <a:r>
              <a:t>• Citations reduce—but cannot eliminate—model error</a:t>
            </a:r>
          </a:p>
        </p:txBody>
      </p:sp>
      <p:sp>
        <p:nvSpPr>
          <p:cNvPr id="19" name="Rounded Rectangle 18"/>
          <p:cNvSpPr/>
          <p:nvPr/>
        </p:nvSpPr>
        <p:spPr>
          <a:xfrm>
            <a:off x="1325880" y="5989320"/>
            <a:ext cx="9555480" cy="530352"/>
          </a:xfrm>
          <a:prstGeom prst="roundRect">
            <a:avLst/>
          </a:prstGeom>
          <a:solidFill>
            <a:srgbClr val="FFF7E5"/>
          </a:solidFill>
          <a:ln w="12700">
            <a:solidFill>
              <a:srgbClr val="FFF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90472" y="6117336"/>
            <a:ext cx="960120" cy="228600"/>
          </a:xfrm>
          <a:prstGeom prst="rect">
            <a:avLst/>
          </a:prstGeom>
          <a:noFill/>
        </p:spPr>
        <p:txBody>
          <a:bodyPr wrap="square" lIns="36576" rIns="36576" tIns="36576" bIns="36576" anchor="t">
            <a:spAutoFit/>
          </a:bodyPr>
          <a:lstStyle/>
          <a:p>
            <a:pPr algn="l">
              <a:defRPr sz="900" b="1">
                <a:solidFill>
                  <a:srgbClr val="F59E0B"/>
                </a:solidFill>
                <a:latin typeface="Aptos"/>
              </a:defRPr>
            </a:pPr>
            <a:r>
              <a:t>BOUNDARY</a:t>
            </a:r>
          </a:p>
        </p:txBody>
      </p:sp>
      <p:sp>
        <p:nvSpPr>
          <p:cNvPr id="21" name="TextBox 20"/>
          <p:cNvSpPr txBox="1"/>
          <p:nvPr/>
        </p:nvSpPr>
        <p:spPr>
          <a:xfrm>
            <a:off x="2450591" y="6089904"/>
            <a:ext cx="8275319"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Use as a trusted local assistant; keep human review for high-stakes decisions.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RECENT IMPROVEMENTS</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What was hardened during implementation</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19</a:t>
            </a:r>
          </a:p>
        </p:txBody>
      </p:sp>
      <p:sp>
        <p:nvSpPr>
          <p:cNvPr id="7" name="Rounded Rectangle 6"/>
          <p:cNvSpPr/>
          <p:nvPr/>
        </p:nvSpPr>
        <p:spPr>
          <a:xfrm>
            <a:off x="640080" y="1389888"/>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389888"/>
            <a:ext cx="73152" cy="1170432"/>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591056"/>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Setup reliability</a:t>
            </a:r>
          </a:p>
        </p:txBody>
      </p:sp>
      <p:sp>
        <p:nvSpPr>
          <p:cNvPr id="10" name="TextBox 9"/>
          <p:cNvSpPr txBox="1"/>
          <p:nvPr/>
        </p:nvSpPr>
        <p:spPr>
          <a:xfrm>
            <a:off x="896112" y="2084832"/>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Python 3.12 discovery, .venv recreation, pinned direct dependencies, doctor checks</a:t>
            </a:r>
          </a:p>
        </p:txBody>
      </p:sp>
      <p:sp>
        <p:nvSpPr>
          <p:cNvPr id="11" name="Rounded Rectangle 10"/>
          <p:cNvSpPr/>
          <p:nvPr/>
        </p:nvSpPr>
        <p:spPr>
          <a:xfrm>
            <a:off x="6144768" y="1389888"/>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44768" y="1389888"/>
            <a:ext cx="73152" cy="1170432"/>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91056"/>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PDF handling</a:t>
            </a:r>
          </a:p>
        </p:txBody>
      </p:sp>
      <p:sp>
        <p:nvSpPr>
          <p:cNvPr id="14" name="TextBox 13"/>
          <p:cNvSpPr txBox="1"/>
          <p:nvPr/>
        </p:nvSpPr>
        <p:spPr>
          <a:xfrm>
            <a:off x="6400800" y="2084832"/>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Real signature checks, no-text error clarity, spacing-resistant retrieval</a:t>
            </a:r>
          </a:p>
        </p:txBody>
      </p:sp>
      <p:sp>
        <p:nvSpPr>
          <p:cNvPr id="15" name="Rounded Rectangle 14"/>
          <p:cNvSpPr/>
          <p:nvPr/>
        </p:nvSpPr>
        <p:spPr>
          <a:xfrm>
            <a:off x="640080" y="2816352"/>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816352"/>
            <a:ext cx="73152" cy="117043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017520"/>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Retrieval accuracy</a:t>
            </a:r>
          </a:p>
        </p:txBody>
      </p:sp>
      <p:sp>
        <p:nvSpPr>
          <p:cNvPr id="18" name="TextBox 17"/>
          <p:cNvSpPr txBox="1"/>
          <p:nvPr/>
        </p:nvSpPr>
        <p:spPr>
          <a:xfrm>
            <a:off x="896112" y="3511296"/>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Locator repair, compact phrase boost, sentence-fragment antecedent extraction</a:t>
            </a:r>
          </a:p>
        </p:txBody>
      </p:sp>
      <p:sp>
        <p:nvSpPr>
          <p:cNvPr id="19" name="Rounded Rectangle 18"/>
          <p:cNvSpPr/>
          <p:nvPr/>
        </p:nvSpPr>
        <p:spPr>
          <a:xfrm>
            <a:off x="6144768" y="2816352"/>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4768" y="2816352"/>
            <a:ext cx="73152" cy="1170432"/>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017520"/>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Answer quality</a:t>
            </a:r>
          </a:p>
        </p:txBody>
      </p:sp>
      <p:sp>
        <p:nvSpPr>
          <p:cNvPr id="22" name="TextBox 21"/>
          <p:cNvSpPr txBox="1"/>
          <p:nvPr/>
        </p:nvSpPr>
        <p:spPr>
          <a:xfrm>
            <a:off x="6400800" y="3511296"/>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Focused factual context, adaptive detail, requested word-count budget and retry</a:t>
            </a:r>
          </a:p>
        </p:txBody>
      </p:sp>
      <p:sp>
        <p:nvSpPr>
          <p:cNvPr id="23" name="Rounded Rectangle 22"/>
          <p:cNvSpPr/>
          <p:nvPr/>
        </p:nvSpPr>
        <p:spPr>
          <a:xfrm>
            <a:off x="640080" y="4242816"/>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242816"/>
            <a:ext cx="73152" cy="1170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443984"/>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Persistence</a:t>
            </a:r>
          </a:p>
        </p:txBody>
      </p:sp>
      <p:sp>
        <p:nvSpPr>
          <p:cNvPr id="26" name="TextBox 25"/>
          <p:cNvSpPr txBox="1"/>
          <p:nvPr/>
        </p:nvSpPr>
        <p:spPr>
          <a:xfrm>
            <a:off x="896112" y="4937760"/>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Qdrant Docker volume, OKF rebuild, saved conversations loaded into Streamlit</a:t>
            </a:r>
          </a:p>
        </p:txBody>
      </p:sp>
      <p:sp>
        <p:nvSpPr>
          <p:cNvPr id="27" name="Rounded Rectangle 26"/>
          <p:cNvSpPr/>
          <p:nvPr/>
        </p:nvSpPr>
        <p:spPr>
          <a:xfrm>
            <a:off x="6144768" y="4242816"/>
            <a:ext cx="5413248" cy="1170432"/>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44768" y="4242816"/>
            <a:ext cx="73152" cy="1170432"/>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443984"/>
            <a:ext cx="4956048" cy="347472"/>
          </a:xfrm>
          <a:prstGeom prst="rect">
            <a:avLst/>
          </a:prstGeom>
          <a:noFill/>
        </p:spPr>
        <p:txBody>
          <a:bodyPr wrap="square" lIns="36576" rIns="36576" tIns="36576" bIns="36576" anchor="t">
            <a:spAutoFit/>
          </a:bodyPr>
          <a:lstStyle/>
          <a:p>
            <a:pPr algn="l">
              <a:defRPr sz="1700" b="1">
                <a:solidFill>
                  <a:srgbClr val="172033"/>
                </a:solidFill>
                <a:latin typeface="Aptos"/>
              </a:defRPr>
            </a:pPr>
            <a:r>
              <a:t>UI resilience</a:t>
            </a:r>
          </a:p>
        </p:txBody>
      </p:sp>
      <p:sp>
        <p:nvSpPr>
          <p:cNvPr id="30" name="TextBox 29"/>
          <p:cNvSpPr txBox="1"/>
          <p:nvPr/>
        </p:nvSpPr>
        <p:spPr>
          <a:xfrm>
            <a:off x="6400800" y="4937760"/>
            <a:ext cx="4919472" cy="347472"/>
          </a:xfrm>
          <a:prstGeom prst="rect">
            <a:avLst/>
          </a:prstGeom>
          <a:noFill/>
        </p:spPr>
        <p:txBody>
          <a:bodyPr wrap="square" lIns="36576" rIns="36576" tIns="36576" bIns="36576" anchor="t">
            <a:spAutoFit/>
          </a:bodyPr>
          <a:lstStyle/>
          <a:p>
            <a:pPr algn="l">
              <a:defRPr sz="1250" b="0">
                <a:solidFill>
                  <a:srgbClr val="667085"/>
                </a:solidFill>
                <a:latin typeface="Aptos"/>
              </a:defRPr>
            </a:pPr>
            <a:r>
              <a:t>Valid avatars, modern layout API, header spacing, localhost URL normalization</a:t>
            </a:r>
          </a:p>
        </p:txBody>
      </p:sp>
      <p:sp>
        <p:nvSpPr>
          <p:cNvPr id="31" name="Rounded Rectangle 30"/>
          <p:cNvSpPr/>
          <p:nvPr/>
        </p:nvSpPr>
        <p:spPr>
          <a:xfrm>
            <a:off x="1170432" y="5806440"/>
            <a:ext cx="9857232" cy="530352"/>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35024" y="5934455"/>
            <a:ext cx="960120" cy="228600"/>
          </a:xfrm>
          <a:prstGeom prst="rect">
            <a:avLst/>
          </a:prstGeom>
          <a:noFill/>
        </p:spPr>
        <p:txBody>
          <a:bodyPr wrap="square" lIns="36576" rIns="36576" tIns="36576" bIns="36576" anchor="t">
            <a:spAutoFit/>
          </a:bodyPr>
          <a:lstStyle/>
          <a:p>
            <a:pPr algn="l">
              <a:defRPr sz="900" b="1">
                <a:solidFill>
                  <a:srgbClr val="13795B"/>
                </a:solidFill>
                <a:latin typeface="Aptos"/>
              </a:defRPr>
            </a:pPr>
            <a:r>
              <a:t>EVIDENCE</a:t>
            </a:r>
          </a:p>
        </p:txBody>
      </p:sp>
      <p:sp>
        <p:nvSpPr>
          <p:cNvPr id="33" name="TextBox 32"/>
          <p:cNvSpPr txBox="1"/>
          <p:nvPr/>
        </p:nvSpPr>
        <p:spPr>
          <a:xfrm>
            <a:off x="2295144" y="5907024"/>
            <a:ext cx="8577072"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Current verification: 32 automated tests pass, plus live health and real-stack query checks.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PRE-ANSWERED Q&amp;A</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Frequently asked questions — architecture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20</a:t>
            </a:r>
          </a:p>
        </p:txBody>
      </p:sp>
      <p:sp>
        <p:nvSpPr>
          <p:cNvPr id="7" name="Rounded Rectangle 6"/>
          <p:cNvSpPr/>
          <p:nvPr/>
        </p:nvSpPr>
        <p:spPr>
          <a:xfrm>
            <a:off x="685800" y="1353312"/>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99616"/>
            <a:ext cx="3246120" cy="438912"/>
          </a:xfrm>
          <a:prstGeom prst="rect">
            <a:avLst/>
          </a:prstGeom>
          <a:noFill/>
        </p:spPr>
        <p:txBody>
          <a:bodyPr wrap="square" lIns="36576" rIns="36576" tIns="36576" bIns="36576" anchor="t">
            <a:spAutoFit/>
          </a:bodyPr>
          <a:lstStyle/>
          <a:p>
            <a:pPr algn="l">
              <a:defRPr sz="1350" b="1">
                <a:solidFill>
                  <a:srgbClr val="2F6FED"/>
                </a:solidFill>
                <a:latin typeface="Aptos"/>
              </a:defRPr>
            </a:pPr>
            <a:r>
              <a:t>Why not store everything only in Qdrant?</a:t>
            </a:r>
          </a:p>
        </p:txBody>
      </p:sp>
      <p:sp>
        <p:nvSpPr>
          <p:cNvPr id="9" name="TextBox 8"/>
          <p:cNvSpPr txBox="1"/>
          <p:nvPr/>
        </p:nvSpPr>
        <p:spPr>
          <a:xfrm>
            <a:off x="4224528" y="1490472"/>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Vectors are derived and hard to review. OKF is readable/rebuildable; SQLite stores operational history.</a:t>
            </a:r>
          </a:p>
        </p:txBody>
      </p:sp>
      <p:sp>
        <p:nvSpPr>
          <p:cNvPr id="10" name="Rounded Rectangle 9"/>
          <p:cNvSpPr/>
          <p:nvPr/>
        </p:nvSpPr>
        <p:spPr>
          <a:xfrm>
            <a:off x="685800" y="2286000"/>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32304"/>
            <a:ext cx="3246120" cy="438912"/>
          </a:xfrm>
          <a:prstGeom prst="rect">
            <a:avLst/>
          </a:prstGeom>
          <a:noFill/>
        </p:spPr>
        <p:txBody>
          <a:bodyPr wrap="square" lIns="36576" rIns="36576" tIns="36576" bIns="36576" anchor="t">
            <a:spAutoFit/>
          </a:bodyPr>
          <a:lstStyle/>
          <a:p>
            <a:pPr algn="l">
              <a:defRPr sz="1350" b="1">
                <a:solidFill>
                  <a:srgbClr val="2F6FED"/>
                </a:solidFill>
                <a:latin typeface="Aptos"/>
              </a:defRPr>
            </a:pPr>
            <a:r>
              <a:t>Is the cache another database?</a:t>
            </a:r>
          </a:p>
        </p:txBody>
      </p:sp>
      <p:sp>
        <p:nvSpPr>
          <p:cNvPr id="12" name="TextBox 11"/>
          <p:cNvSpPr txBox="1"/>
          <p:nvPr/>
        </p:nvSpPr>
        <p:spPr>
          <a:xfrm>
            <a:off x="4224528" y="2423160"/>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No. It avoids repeated embedding and query-analysis work. Deleting it affects speed, not canonical knowledge.</a:t>
            </a:r>
          </a:p>
        </p:txBody>
      </p:sp>
      <p:sp>
        <p:nvSpPr>
          <p:cNvPr id="13" name="Rounded Rectangle 12"/>
          <p:cNvSpPr/>
          <p:nvPr/>
        </p:nvSpPr>
        <p:spPr>
          <a:xfrm>
            <a:off x="685800" y="3218688"/>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64992"/>
            <a:ext cx="3246120" cy="438912"/>
          </a:xfrm>
          <a:prstGeom prst="rect">
            <a:avLst/>
          </a:prstGeom>
          <a:noFill/>
        </p:spPr>
        <p:txBody>
          <a:bodyPr wrap="square" lIns="36576" rIns="36576" tIns="36576" bIns="36576" anchor="t">
            <a:spAutoFit/>
          </a:bodyPr>
          <a:lstStyle/>
          <a:p>
            <a:pPr algn="l">
              <a:defRPr sz="1350" b="1">
                <a:solidFill>
                  <a:srgbClr val="2F6FED"/>
                </a:solidFill>
                <a:latin typeface="Aptos"/>
              </a:defRPr>
            </a:pPr>
            <a:r>
              <a:t>Does it use the internet?</a:t>
            </a:r>
          </a:p>
        </p:txBody>
      </p:sp>
      <p:sp>
        <p:nvSpPr>
          <p:cNvPr id="15" name="TextBox 14"/>
          <p:cNvSpPr txBox="1"/>
          <p:nvPr/>
        </p:nvSpPr>
        <p:spPr>
          <a:xfrm>
            <a:off x="4224528" y="3355848"/>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Not for normal queries. After software/model installation, processing stays local unless configuration is changed.</a:t>
            </a:r>
          </a:p>
        </p:txBody>
      </p:sp>
      <p:sp>
        <p:nvSpPr>
          <p:cNvPr id="16" name="Rounded Rectangle 15"/>
          <p:cNvSpPr/>
          <p:nvPr/>
        </p:nvSpPr>
        <p:spPr>
          <a:xfrm>
            <a:off x="685800" y="4151376"/>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97680"/>
            <a:ext cx="3246120" cy="438912"/>
          </a:xfrm>
          <a:prstGeom prst="rect">
            <a:avLst/>
          </a:prstGeom>
          <a:noFill/>
        </p:spPr>
        <p:txBody>
          <a:bodyPr wrap="square" lIns="36576" rIns="36576" tIns="36576" bIns="36576" anchor="t">
            <a:spAutoFit/>
          </a:bodyPr>
          <a:lstStyle/>
          <a:p>
            <a:pPr algn="l">
              <a:defRPr sz="1350" b="1">
                <a:solidFill>
                  <a:srgbClr val="2F6FED"/>
                </a:solidFill>
                <a:latin typeface="Aptos"/>
              </a:defRPr>
            </a:pPr>
            <a:r>
              <a:t>Why two models?</a:t>
            </a:r>
          </a:p>
        </p:txBody>
      </p:sp>
      <p:sp>
        <p:nvSpPr>
          <p:cNvPr id="18" name="TextBox 17"/>
          <p:cNvSpPr txBox="1"/>
          <p:nvPr/>
        </p:nvSpPr>
        <p:spPr>
          <a:xfrm>
            <a:off x="4224528" y="4288536"/>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Generation and embedding are different jobs. Gemma writes/analyzes; EmbeddingGemma creates search vectors.</a:t>
            </a:r>
          </a:p>
        </p:txBody>
      </p:sp>
      <p:sp>
        <p:nvSpPr>
          <p:cNvPr id="19" name="Rounded Rectangle 18"/>
          <p:cNvSpPr/>
          <p:nvPr/>
        </p:nvSpPr>
        <p:spPr>
          <a:xfrm>
            <a:off x="685800" y="5084064"/>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30368"/>
            <a:ext cx="3246120" cy="438912"/>
          </a:xfrm>
          <a:prstGeom prst="rect">
            <a:avLst/>
          </a:prstGeom>
          <a:noFill/>
        </p:spPr>
        <p:txBody>
          <a:bodyPr wrap="square" lIns="36576" rIns="36576" tIns="36576" bIns="36576" anchor="t">
            <a:spAutoFit/>
          </a:bodyPr>
          <a:lstStyle/>
          <a:p>
            <a:pPr algn="l">
              <a:defRPr sz="1350" b="1">
                <a:solidFill>
                  <a:srgbClr val="2F6FED"/>
                </a:solidFill>
                <a:latin typeface="Aptos"/>
              </a:defRPr>
            </a:pPr>
            <a:r>
              <a:t>What makes it agentic?</a:t>
            </a:r>
          </a:p>
        </p:txBody>
      </p:sp>
      <p:sp>
        <p:nvSpPr>
          <p:cNvPr id="21" name="TextBox 20"/>
          <p:cNvSpPr txBox="1"/>
          <p:nvPr/>
        </p:nvSpPr>
        <p:spPr>
          <a:xfrm>
            <a:off x="4224528" y="5221224"/>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Specialized stages adapt retrieval and evidence checks within strict round and subquery limits.</a:t>
            </a:r>
          </a:p>
        </p:txBody>
      </p:sp>
      <p:sp>
        <p:nvSpPr>
          <p:cNvPr id="22" name="Rounded Rectangle 21"/>
          <p:cNvSpPr/>
          <p:nvPr/>
        </p:nvSpPr>
        <p:spPr>
          <a:xfrm>
            <a:off x="1417320" y="6172200"/>
            <a:ext cx="9372600"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6300216"/>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TAKEAWAY</a:t>
            </a:r>
          </a:p>
        </p:txBody>
      </p:sp>
      <p:sp>
        <p:nvSpPr>
          <p:cNvPr id="24" name="TextBox 23"/>
          <p:cNvSpPr txBox="1"/>
          <p:nvPr/>
        </p:nvSpPr>
        <p:spPr>
          <a:xfrm>
            <a:off x="2542032" y="6272784"/>
            <a:ext cx="809244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Short answer: separation of concerns makes recovery, testing, and explanation easier.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PRE-ANSWERED Q&amp;A</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Frequently asked questions — operation</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21</a:t>
            </a:r>
          </a:p>
        </p:txBody>
      </p:sp>
      <p:sp>
        <p:nvSpPr>
          <p:cNvPr id="7" name="Rounded Rectangle 6"/>
          <p:cNvSpPr/>
          <p:nvPr/>
        </p:nvSpPr>
        <p:spPr>
          <a:xfrm>
            <a:off x="685800" y="1353312"/>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99616"/>
            <a:ext cx="3246120" cy="438912"/>
          </a:xfrm>
          <a:prstGeom prst="rect">
            <a:avLst/>
          </a:prstGeom>
          <a:noFill/>
        </p:spPr>
        <p:txBody>
          <a:bodyPr wrap="square" lIns="36576" rIns="36576" tIns="36576" bIns="36576" anchor="t">
            <a:spAutoFit/>
          </a:bodyPr>
          <a:lstStyle/>
          <a:p>
            <a:pPr algn="l">
              <a:defRPr sz="1350" b="1">
                <a:solidFill>
                  <a:srgbClr val="FF4D4F"/>
                </a:solidFill>
                <a:latin typeface="Aptos"/>
              </a:defRPr>
            </a:pPr>
            <a:r>
              <a:t>Must I upload again after restart?</a:t>
            </a:r>
          </a:p>
        </p:txBody>
      </p:sp>
      <p:sp>
        <p:nvSpPr>
          <p:cNvPr id="9" name="TextBox 8"/>
          <p:cNvSpPr txBox="1"/>
          <p:nvPr/>
        </p:nvSpPr>
        <p:spPr>
          <a:xfrm>
            <a:off x="4224528" y="1490472"/>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No—start Docker Desktop, Ollama, FastAPI, and Streamlit. Re-upload only if persistent data was removed.</a:t>
            </a:r>
          </a:p>
        </p:txBody>
      </p:sp>
      <p:sp>
        <p:nvSpPr>
          <p:cNvPr id="10" name="Rounded Rectangle 9"/>
          <p:cNvSpPr/>
          <p:nvPr/>
        </p:nvSpPr>
        <p:spPr>
          <a:xfrm>
            <a:off x="685800" y="2286000"/>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32304"/>
            <a:ext cx="3246120" cy="438912"/>
          </a:xfrm>
          <a:prstGeom prst="rect">
            <a:avLst/>
          </a:prstGeom>
          <a:noFill/>
        </p:spPr>
        <p:txBody>
          <a:bodyPr wrap="square" lIns="36576" rIns="36576" tIns="36576" bIns="36576" anchor="t">
            <a:spAutoFit/>
          </a:bodyPr>
          <a:lstStyle/>
          <a:p>
            <a:pPr algn="l">
              <a:defRPr sz="1350" b="1">
                <a:solidFill>
                  <a:srgbClr val="FF4D4F"/>
                </a:solidFill>
                <a:latin typeface="Aptos"/>
              </a:defRPr>
            </a:pPr>
            <a:r>
              <a:t>What happens with the same filename?</a:t>
            </a:r>
          </a:p>
        </p:txBody>
      </p:sp>
      <p:sp>
        <p:nvSpPr>
          <p:cNvPr id="12" name="TextBox 11"/>
          <p:cNvSpPr txBox="1"/>
          <p:nvPr/>
        </p:nvSpPr>
        <p:spPr>
          <a:xfrm>
            <a:off x="4224528" y="2423160"/>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Same hash is a duplicate; changed content is indexed as a new version before the old one is deleted.</a:t>
            </a:r>
          </a:p>
        </p:txBody>
      </p:sp>
      <p:sp>
        <p:nvSpPr>
          <p:cNvPr id="13" name="Rounded Rectangle 12"/>
          <p:cNvSpPr/>
          <p:nvPr/>
        </p:nvSpPr>
        <p:spPr>
          <a:xfrm>
            <a:off x="685800" y="3218688"/>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64992"/>
            <a:ext cx="3246120" cy="438912"/>
          </a:xfrm>
          <a:prstGeom prst="rect">
            <a:avLst/>
          </a:prstGeom>
          <a:noFill/>
        </p:spPr>
        <p:txBody>
          <a:bodyPr wrap="square" lIns="36576" rIns="36576" tIns="36576" bIns="36576" anchor="t">
            <a:spAutoFit/>
          </a:bodyPr>
          <a:lstStyle/>
          <a:p>
            <a:pPr algn="l">
              <a:defRPr sz="1350" b="1">
                <a:solidFill>
                  <a:srgbClr val="FF4D4F"/>
                </a:solidFill>
                <a:latin typeface="Aptos"/>
              </a:defRPr>
            </a:pPr>
            <a:r>
              <a:t>Does deleting OKF delete Qdrant?</a:t>
            </a:r>
          </a:p>
        </p:txBody>
      </p:sp>
      <p:sp>
        <p:nvSpPr>
          <p:cNvPr id="15" name="TextBox 14"/>
          <p:cNvSpPr txBox="1"/>
          <p:nvPr/>
        </p:nvSpPr>
        <p:spPr>
          <a:xfrm>
            <a:off x="4224528" y="3355848"/>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Not by hand. Use the API/UI delete action, or rebuild Qdrant from the remaining OKF files.</a:t>
            </a:r>
          </a:p>
        </p:txBody>
      </p:sp>
      <p:sp>
        <p:nvSpPr>
          <p:cNvPr id="16" name="Rounded Rectangle 15"/>
          <p:cNvSpPr/>
          <p:nvPr/>
        </p:nvSpPr>
        <p:spPr>
          <a:xfrm>
            <a:off x="685800" y="4151376"/>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97680"/>
            <a:ext cx="3246120" cy="438912"/>
          </a:xfrm>
          <a:prstGeom prst="rect">
            <a:avLst/>
          </a:prstGeom>
          <a:noFill/>
        </p:spPr>
        <p:txBody>
          <a:bodyPr wrap="square" lIns="36576" rIns="36576" tIns="36576" bIns="36576" anchor="t">
            <a:spAutoFit/>
          </a:bodyPr>
          <a:lstStyle/>
          <a:p>
            <a:pPr algn="l">
              <a:defRPr sz="1350" b="1">
                <a:solidFill>
                  <a:srgbClr val="FF4D4F"/>
                </a:solidFill>
                <a:latin typeface="Aptos"/>
              </a:defRPr>
            </a:pPr>
            <a:r>
              <a:t>Can it hallucinate?</a:t>
            </a:r>
          </a:p>
        </p:txBody>
      </p:sp>
      <p:sp>
        <p:nvSpPr>
          <p:cNvPr id="18" name="TextBox 17"/>
          <p:cNvSpPr txBox="1"/>
          <p:nvPr/>
        </p:nvSpPr>
        <p:spPr>
          <a:xfrm>
            <a:off x="4224528" y="4288536"/>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Risk is reduced, not eliminated. Evidence gates, no-answer behavior, citations, and source review are the controls.</a:t>
            </a:r>
          </a:p>
        </p:txBody>
      </p:sp>
      <p:sp>
        <p:nvSpPr>
          <p:cNvPr id="19" name="Rounded Rectangle 18"/>
          <p:cNvSpPr/>
          <p:nvPr/>
        </p:nvSpPr>
        <p:spPr>
          <a:xfrm>
            <a:off x="685800" y="5084064"/>
            <a:ext cx="10835640" cy="832104"/>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230368"/>
            <a:ext cx="3246120" cy="438912"/>
          </a:xfrm>
          <a:prstGeom prst="rect">
            <a:avLst/>
          </a:prstGeom>
          <a:noFill/>
        </p:spPr>
        <p:txBody>
          <a:bodyPr wrap="square" lIns="36576" rIns="36576" tIns="36576" bIns="36576" anchor="t">
            <a:spAutoFit/>
          </a:bodyPr>
          <a:lstStyle/>
          <a:p>
            <a:pPr algn="l">
              <a:defRPr sz="1350" b="1">
                <a:solidFill>
                  <a:srgbClr val="FF4D4F"/>
                </a:solidFill>
                <a:latin typeface="Aptos"/>
              </a:defRPr>
            </a:pPr>
            <a:r>
              <a:t>Can another frontend use it?</a:t>
            </a:r>
          </a:p>
        </p:txBody>
      </p:sp>
      <p:sp>
        <p:nvSpPr>
          <p:cNvPr id="21" name="TextBox 20"/>
          <p:cNvSpPr txBox="1"/>
          <p:nvPr/>
        </p:nvSpPr>
        <p:spPr>
          <a:xfrm>
            <a:off x="4224528" y="5221224"/>
            <a:ext cx="6995160" cy="484632"/>
          </a:xfrm>
          <a:prstGeom prst="rect">
            <a:avLst/>
          </a:prstGeom>
          <a:noFill/>
        </p:spPr>
        <p:txBody>
          <a:bodyPr wrap="square" lIns="36576" rIns="36576" tIns="36576" bIns="36576" anchor="t">
            <a:spAutoFit/>
          </a:bodyPr>
          <a:lstStyle/>
          <a:p>
            <a:pPr algn="l">
              <a:defRPr sz="1300" b="0">
                <a:solidFill>
                  <a:srgbClr val="172033"/>
                </a:solidFill>
                <a:latin typeface="Aptos"/>
              </a:defRPr>
            </a:pPr>
            <a:r>
              <a:t>Yes. The complete contract is documented in Swagger and api_documentation.md.</a:t>
            </a:r>
          </a:p>
        </p:txBody>
      </p:sp>
      <p:sp>
        <p:nvSpPr>
          <p:cNvPr id="22" name="Rounded Rectangle 21"/>
          <p:cNvSpPr/>
          <p:nvPr/>
        </p:nvSpPr>
        <p:spPr>
          <a:xfrm>
            <a:off x="1920240" y="6172200"/>
            <a:ext cx="8366760" cy="530352"/>
          </a:xfrm>
          <a:prstGeom prst="roundRect">
            <a:avLst/>
          </a:prstGeom>
          <a:solidFill>
            <a:srgbClr val="E8F7F1"/>
          </a:solidFill>
          <a:ln w="12700">
            <a:solidFill>
              <a:srgbClr val="E8F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84832" y="6300216"/>
            <a:ext cx="960120" cy="228600"/>
          </a:xfrm>
          <a:prstGeom prst="rect">
            <a:avLst/>
          </a:prstGeom>
          <a:noFill/>
        </p:spPr>
        <p:txBody>
          <a:bodyPr wrap="square" lIns="36576" rIns="36576" tIns="36576" bIns="36576" anchor="t">
            <a:spAutoFit/>
          </a:bodyPr>
          <a:lstStyle/>
          <a:p>
            <a:pPr algn="l">
              <a:defRPr sz="900" b="1">
                <a:solidFill>
                  <a:srgbClr val="13795B"/>
                </a:solidFill>
                <a:latin typeface="Aptos"/>
              </a:defRPr>
            </a:pPr>
            <a:r>
              <a:t>CLOSE</a:t>
            </a:r>
          </a:p>
        </p:txBody>
      </p:sp>
      <p:sp>
        <p:nvSpPr>
          <p:cNvPr id="24" name="TextBox 23"/>
          <p:cNvSpPr txBox="1"/>
          <p:nvPr/>
        </p:nvSpPr>
        <p:spPr>
          <a:xfrm>
            <a:off x="3044952" y="6272784"/>
            <a:ext cx="7086600"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Final message: private knowledge in, verifiable answers 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Frontend components: the human workspace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22</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Page controller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frontend/app.py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Routes Ask, Library, Operations, Insights, and Diagnostics.</a:t>
            </a:r>
            <a:br/>
            <a:r>
              <a:t>INPUT  Clicks, files, questions, session ID.</a:t>
            </a:r>
            <a:br/>
            <a:r>
              <a:t>OUTPUT  Calls through SmartRAGClient.</a:t>
            </a:r>
            <a:br/>
            <a:r>
              <a:t>FAILURE  UI stops; backend data remains intact.</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API client</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frontend/api_client.py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Typed HTTP boundary for REST and SSE.</a:t>
            </a:r>
            <a:br/>
            <a:r>
              <a:t>INPUT  Base URL plus request data.</a:t>
            </a:r>
            <a:br/>
            <a:r>
              <a:t>OUTPUT  Decoded JSON/events or a readable APIError.</a:t>
            </a:r>
            <a:br/>
            <a:r>
              <a:t>FAILURE  Shows connectivity/status guidance instead of crashing silently.</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Conversation renderer</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frontend/app.py | ask_page</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Displays persisted user/assistant turns and answer evidence.</a:t>
            </a:r>
            <a:br/>
            <a:r>
              <a:t>INPUT  Session messages and QueryResponse.</a:t>
            </a:r>
            <a:br/>
            <a:r>
              <a:t>OUTPUT  Chat cards, confidence, sources, latency.</a:t>
            </a:r>
            <a:br/>
            <a:r>
              <a:t>FAILURE  A new session is isolated; saved backend history is not deleted.</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Design system</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frontend/styles.py</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Shared CSS, spacing, page introductions, and visual hierarchy.</a:t>
            </a:r>
            <a:br/>
            <a:r>
              <a:t>INPUT  Streamlit-generated markup.</a:t>
            </a:r>
            <a:br/>
            <a:r>
              <a:t>OUTPUT  Consistent responsive presentation.</a:t>
            </a:r>
            <a:br/>
            <a:r>
              <a:t>FAILURE  Functionality remains, but layout and branding degrade.</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The frontend contains presentation logic only; it never writes directly to Qdrant, OKF, or SQLite.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Backend components: API and dependency wiring</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23</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Application lifecycle</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app/main.py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Starts FastAPI, registers routes, initializes resources, and closes clients.</a:t>
            </a:r>
            <a:br/>
            <a:r>
              <a:t>INPUT  Process start and HTTP traffic.</a:t>
            </a:r>
            <a:br/>
            <a:r>
              <a:t>OUTPUT  Running API application.</a:t>
            </a:r>
            <a:br/>
            <a:r>
              <a:t>FAILURE  No endpoint is available, but persisted files/volumes remain.</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Dependency container</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app/container.py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Builds shared Settings, DB, Ollama, Qdrant, index, graph, and orchestrator objects.</a:t>
            </a:r>
            <a:br/>
            <a:r>
              <a:t>INPUT  Environment configuration.</a:t>
            </a:r>
            <a:br/>
            <a:r>
              <a:t>OUTPUT  Correctly wired runtime services.</a:t>
            </a:r>
            <a:br/>
            <a:r>
              <a:t>FAILURE  Startup or request dependency creation fails explicitly.</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Document routes</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app/api/ingest.py + documents.py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Upload, list, delete, and rebuild operations.</a:t>
            </a:r>
            <a:br/>
            <a:r>
              <a:t>INPUT  Multipart file or document ID.</a:t>
            </a:r>
            <a:br/>
            <a:r>
              <a:t>OUTPUT  Lifecycle result and HTTP status.</a:t>
            </a:r>
            <a:br/>
            <a:r>
              <a:t>FAILURE  Converts validation, lookup, and indexing failures into API errors.</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Query and insight routes</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app/api/query.py + analytics.py + health.py</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Query, SSE, history, trace, analytics, stats, and health.</a:t>
            </a:r>
            <a:br/>
            <a:r>
              <a:t>INPUT  Session/query IDs and questions.</a:t>
            </a:r>
            <a:br/>
            <a:r>
              <a:t>OUTPUT  JSON or progress events.</a:t>
            </a:r>
            <a:br/>
            <a:r>
              <a:t>FAILURE  Health identifies the unavailable dependency.</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FastAPI is the stable contract: Streamlit and external integrations receive identical backend behavior.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Ingestion components: safe file processing</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24</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Upload validator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app/ingestion/security.py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Checks filename, size, extension, signature, and SHA-256.</a:t>
            </a:r>
            <a:br/>
            <a:r>
              <a:t>INPUT  Uploaded bytes and name.</a:t>
            </a:r>
            <a:br/>
            <a:r>
              <a:t>OUTPUT  Safe name plus content hash.</a:t>
            </a:r>
            <a:br/>
            <a:r>
              <a:t>FAILURE  Rejects before conversion or indexing changes occur.</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Document converter</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app/ingestion/converter.py + markitdown_converter.py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Extracts normalized Markdown and metadata from supported formats.</a:t>
            </a:r>
            <a:br/>
            <a:r>
              <a:t>INPUT  Valid local source file.</a:t>
            </a:r>
            <a:br/>
            <a:r>
              <a:t>OUTPUT  ConvertedDocument.</a:t>
            </a:r>
            <a:br/>
            <a:r>
              <a:t>FAILURE  Returns a clear no-text/conversion error; image PDFs need OCR.</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Ingestion pipeline</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app/ingestion/pipeline.py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Coordinates conversion, OKF, chunking, Qdrant, and SQLite as one lifecycle.</a:t>
            </a:r>
            <a:br/>
            <a:r>
              <a:t>INPUT  Filename and bytes.</a:t>
            </a:r>
            <a:br/>
            <a:r>
              <a:t>OUTPUT  Ready document or duplicate result.</a:t>
            </a:r>
            <a:br/>
            <a:r>
              <a:t>FAILURE  Rolls back partial index/files and preserves an old working version.</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Lifecycle policy</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IngestionPipeline.ingest/delete/rebuild_index</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Handles duplicate hashes, same-name replacement, deletion, and reindex.</a:t>
            </a:r>
            <a:br/>
            <a:r>
              <a:t>INPUT  Document identity and persisted artifacts.</a:t>
            </a:r>
            <a:br/>
            <a:r>
              <a:t>OUTPUT  Consistent stores.</a:t>
            </a:r>
            <a:br/>
            <a:r>
              <a:t>FAILURE  Manual filesystem edits require an explicit rebuild.</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A document becomes visible only after conversion and indexing succeed; partial replacements are cleaned up.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Knowledge components: OKF, structure, and links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25</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OKF builder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app/ingestion/okf_builder.py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Writes a readable OKF v0.2 concept plus a self-contained source reference.</a:t>
            </a:r>
            <a:br/>
            <a:r>
              <a:t>INPUT  ConvertedDocument and original file.</a:t>
            </a:r>
            <a:br/>
            <a:r>
              <a:t>OUTPUT  YAML-frontmatter Markdown concept.</a:t>
            </a:r>
            <a:br/>
            <a:r>
              <a:t>FAILURE  Ingestion rolls back its new OKF folder.</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OKF parser/discovery</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app/knowledge/okf.py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Validates metadata while preserving extension fields.</a:t>
            </a:r>
            <a:br/>
            <a:r>
              <a:t>INPUT  Non-reserved Markdown concepts.</a:t>
            </a:r>
            <a:br/>
            <a:r>
              <a:t>OUTPUT  Typed OKFConcept objects.</a:t>
            </a:r>
            <a:br/>
            <a:r>
              <a:t>FAILURE  Malformed frontmatter raises a named parse error.</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Structure-aware chunker</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app/ingestion/chunker.py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Splits by headings and semantic blocks while preserving tables/code and overlap.</a:t>
            </a:r>
            <a:br/>
            <a:r>
              <a:t>INPUT  OKFConcept body and metadata.</a:t>
            </a:r>
            <a:br/>
            <a:r>
              <a:t>OUTPUT  Stable, source-linked Chunk objects.</a:t>
            </a:r>
            <a:br/>
            <a:r>
              <a:t>FAILURE  Empty concepts produce no searchable chunks.</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Knowledge graph</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app/knowledge/graph.py + relationship_expander.py</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Connects sibling/Markdown-linked concepts and adds bounded related evidence.</a:t>
            </a:r>
            <a:br/>
            <a:r>
              <a:t>INPUT  Discovered OKF concepts and initial results.</a:t>
            </a:r>
            <a:br/>
            <a:r>
              <a:t>OUTPUT  Extra Qdrant results tagged okf_graph.</a:t>
            </a:r>
            <a:br/>
            <a:r>
              <a:t>FAILURE  Search still works without graph neighbors.</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OKF is more than an archive: it is the canonical, inspectable input for chunking, rebuild, provenance, and graph expansion.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Persistence components: files, SQLite, and cache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26</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Filesystem store</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data/sources + data/markdown + data/okf</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Keeps originals, normalized text, and canonical knowledge.</a:t>
            </a:r>
            <a:br/>
            <a:r>
              <a:t>INPUT  Successful ingestion artifacts.</a:t>
            </a:r>
            <a:br/>
            <a:r>
              <a:t>OUTPUT  Inspectable, backup-friendly files.</a:t>
            </a:r>
            <a:br/>
            <a:r>
              <a:t>FAILURE  Losing data/ removes the master local knowledge and registry database.</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SQLite schema</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app/database/models.py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Defines documents, sessions, messages, queries, plans, runs, results, citations, and analytics.</a:t>
            </a:r>
            <a:br/>
            <a:r>
              <a:t>INPUT  Operational events.</a:t>
            </a:r>
            <a:br/>
            <a:r>
              <a:t>OUTPUT  Relational history in smart_rag.db.</a:t>
            </a:r>
            <a:br/>
            <a:r>
              <a:t>FAILURE  Query history/UI memory fail; Qdrant vectors may still exist.</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Repository + sessions</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app/database/repository.py + session.py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Centralizes reads, writes, transactions, traces, and aggregate analytics.</a:t>
            </a:r>
            <a:br/>
            <a:r>
              <a:t>INPUT  Domain records and IDs.</a:t>
            </a:r>
            <a:br/>
            <a:r>
              <a:t>OUTPUT  Committed SQLite rows/dictionaries.</a:t>
            </a:r>
            <a:br/>
            <a:r>
              <a:t>FAILURE  Transaction rollback prevents half-written operational history.</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Reusable cache</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data/cache/embeddings + query_analysis</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Reuses vectors by model/content hash and plans by query/history hash.</a:t>
            </a:r>
            <a:br/>
            <a:r>
              <a:t>INPUT  Deterministic work keys.</a:t>
            </a:r>
            <a:br/>
            <a:r>
              <a:t>OUTPUT  Faster repeated processing.</a:t>
            </a:r>
            <a:br/>
            <a:r>
              <a:t>FAILURE  Safe to delete; performance drops temporarily, knowledge remains.</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The three persistence jobs are different: files preserve knowledge, SQLite preserves operations, and cache preserves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Qdrant components: the replaceable search index</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27</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Index manager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app/retrieval/index.py | QdrantIndex</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Creates, validates, populates, deletes, and recreates the collection.</a:t>
            </a:r>
            <a:br/>
            <a:r>
              <a:t>INPUT  Chunks plus embeddings.</a:t>
            </a:r>
            <a:br/>
            <a:r>
              <a:t>OUTPUT  Searchable Qdrant points.</a:t>
            </a:r>
            <a:br/>
            <a:r>
              <a:t>FAILURE  Dimension mismatch requests a rebuild instead of corrupt mixing.</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Dense vector field</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Qdrant vector: dense</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Stores EmbeddingGemma meaning vectors.</a:t>
            </a:r>
            <a:br/>
            <a:r>
              <a:t>INPUT  Chunk content embeddings.</a:t>
            </a:r>
            <a:br/>
            <a:r>
              <a:t>OUTPUT  Semantic nearest-neighbor candidates.</a:t>
            </a:r>
            <a:br/>
            <a:r>
              <a:t>FAILURE  Exact technical strings may rank poorly without sparse search.</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Sparse vector field</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Qdrant vector: sparse</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Stores stable token/character-feature weights.</a:t>
            </a:r>
            <a:br/>
            <a:r>
              <a:t>INPUT  Locally encoded chunk text.</a:t>
            </a:r>
            <a:br/>
            <a:r>
              <a:t>OUTPUT  Exact and spacing-resistant candidates.</a:t>
            </a:r>
            <a:br/>
            <a:r>
              <a:t>FAILURE  Paraphrases may rank poorly without dense search.</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Payload and collection</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smart_rag collection + Docker volume</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Carries content, source IDs, headings, trust, freshness, and citation metadata.</a:t>
            </a:r>
            <a:br/>
            <a:r>
              <a:t>INPUT  Chunk payload.</a:t>
            </a:r>
            <a:br/>
            <a:r>
              <a:t>OUTPUT  Filterable evidence records.</a:t>
            </a:r>
            <a:br/>
            <a:r>
              <a:t>FAILURE  Recreate from OKF; do not re-upload when canonical files remain.</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Qdrant is optimized for finding evidence quickly; it is deliberately treated as derived and rebuildable.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Model components: local generation and embeddings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28</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Ollama runtime</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localhost:11434</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Hosts both local models and keeps inference off hosted APIs.</a:t>
            </a:r>
            <a:br/>
            <a:r>
              <a:t>INPUT  Chat or embedding requests.</a:t>
            </a:r>
            <a:br/>
            <a:r>
              <a:t>OUTPUT  Tokens, JSON, or vectors.</a:t>
            </a:r>
            <a:br/>
            <a:r>
              <a:t>FAILURE  Health becomes degraded and query/index operations cannot complete.</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Ollama client</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app/llm/ollama_client.py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Handles HTTP, timeouts, chat, streaming, structured JSON retries, and batching.</a:t>
            </a:r>
            <a:br/>
            <a:r>
              <a:t>INPUT  Prompts/model settings.</a:t>
            </a:r>
            <a:br/>
            <a:r>
              <a:t>OUTPUT  Validated responses or OllamaError.</a:t>
            </a:r>
            <a:br/>
            <a:r>
              <a:t>FAILURE  Raises actionable model/service errors.</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Language model</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gemma4:e4b</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Analyzes intent, optionally reranks/checks, and writes grounded answers.</a:t>
            </a:r>
            <a:br/>
            <a:r>
              <a:t>INPUT  Instructions plus bounded evidence.</a:t>
            </a:r>
            <a:br/>
            <a:r>
              <a:t>OUTPUT  Plans, assessments, and prose.</a:t>
            </a:r>
            <a:br/>
            <a:r>
              <a:t>FAILURE  Deterministic fallbacks cover some structured-analysis failures.</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Embedding model</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embeddinggemma + app/embeddings</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Maps questions and chunks into comparable dense vectors.</a:t>
            </a:r>
            <a:br/>
            <a:r>
              <a:t>INPUT  Plain text.</a:t>
            </a:r>
            <a:br/>
            <a:r>
              <a:t>OUTPUT  Numeric vector detected at runtime.</a:t>
            </a:r>
            <a:br/>
            <a:r>
              <a:t>FAILURE  A changed dimension requires Qdrant rebuild.</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Two models are used because writing language and measuring semantic similarity are different jobs.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Retrieval components: finding and ordering evidence</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29</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Hybrid retriever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app/retrieval/hybrid.py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Runs independent dense and sparse searches and fuses ranks.</a:t>
            </a:r>
            <a:br/>
            <a:r>
              <a:t>INPUT  Subquery plus optional document filters.</a:t>
            </a:r>
            <a:br/>
            <a:r>
              <a:t>OUTPUT  RetrievalBatch with channel scores.</a:t>
            </a:r>
            <a:br/>
            <a:r>
              <a:t>FAILURE  Qdrant/Ollama errors propagate with traceable context.</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Sparse encoder</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app/retrieval/sparse.py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Produces deterministic token and compact character features.</a:t>
            </a:r>
            <a:br/>
            <a:r>
              <a:t>INPUT  Query or chunk text.</a:t>
            </a:r>
            <a:br/>
            <a:r>
              <a:t>OUTPUT  Qdrant SparseVector.</a:t>
            </a:r>
            <a:br/>
            <a:r>
              <a:t>FAILURE  No external lexical service is required; features are reproducible locally.</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Filters and graph expansion</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filters.py + relationship_expander.py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Restricts document/concept scope and optionally adds linked OKF concepts.</a:t>
            </a:r>
            <a:br/>
            <a:r>
              <a:t>INPUT  IDs, initial results, hop limit.</a:t>
            </a:r>
            <a:br/>
            <a:r>
              <a:t>OUTPUT  Focused plus related candidates.</a:t>
            </a:r>
            <a:br/>
            <a:r>
              <a:t>FAILURE  Missing links do not block base retrieval.</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Adaptive reranker</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app/retrieval/reranker.py</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Reorders by directness, exact-term coverage, comparison balance, trust, and freshness.</a:t>
            </a:r>
            <a:br/>
            <a:r>
              <a:t>INPUT  Fused candidates and query type.</a:t>
            </a:r>
            <a:br/>
            <a:r>
              <a:t>OUTPUT  Top evidence set.</a:t>
            </a:r>
            <a:br/>
            <a:r>
              <a:t>FAILURE  Deterministic ranking remains when LLM reranking is disabled/fails.</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Retrieval is a pipeline: candidate recall first, then precision-oriented reranking before evidence checking.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Agent components: bounded decision stages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30</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Query analyzer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app/agents/query_analyzer.py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Classifies intent, resolves follow-ups, extracts targets/terms, and creates standalone query text.</a:t>
            </a:r>
            <a:br/>
            <a:r>
              <a:t>INPUT  Question plus eight recent messages.</a:t>
            </a:r>
            <a:br/>
            <a:r>
              <a:t>OUTPUT  QueryPlan.</a:t>
            </a:r>
            <a:br/>
            <a:r>
              <a:t>FAILURE  Repairs/fallback prevent unsafe or empty plans.</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Retrieval planner</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app/agents/planner.py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Converts analysis into bounded subqueries and strategy.</a:t>
            </a:r>
            <a:br/>
            <a:r>
              <a:t>INPUT  QueryPlan.</a:t>
            </a:r>
            <a:br/>
            <a:r>
              <a:t>OUTPUT  RetrievalPlan with at most configured maximum queries.</a:t>
            </a:r>
            <a:br/>
            <a:r>
              <a:t>FAILURE  Deterministic rules always provide a viable search path.</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Evidence checker</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app/agents/evidence_checker.py</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Judges coverage, confidence, and whether a refinement query is useful.</a:t>
            </a:r>
            <a:br/>
            <a:r>
              <a:t>INPUT  Plan plus reranked evidence.</a:t>
            </a:r>
            <a:br/>
            <a:r>
              <a:t>OUTPUT  SufficiencyAssessment.</a:t>
            </a:r>
            <a:br/>
            <a:r>
              <a:t>FAILURE  Weak evidence produces retry/no-answer rather than unsupported prose.</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Answer generator</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app/agents/answer_generator.py</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Selects focused excerpts, adapts detail/word budget, writes and validates citations.</a:t>
            </a:r>
            <a:br/>
            <a:r>
              <a:t>INPUT  Plan, evidence, sufficiency.</a:t>
            </a:r>
            <a:br/>
            <a:r>
              <a:t>OUTPUT  Grounded answer or explicit no-answer.</a:t>
            </a:r>
            <a:br/>
            <a:r>
              <a:t>FAILURE  Invalid citations are removed; short requested drafts can retry once.</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Agentic means specialized, adaptive stages inside strict limits—not an unrestricted autonomous bot.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Orchestration and observability components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31</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RAG orchestrator</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app/rag/orchestrator.py</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Executes analyze, plan, retrieve, expand, rerank, assess, retry, answer, and persist.</a:t>
            </a:r>
            <a:br/>
            <a:r>
              <a:t>INPUT  Session ID and question.</a:t>
            </a:r>
            <a:br/>
            <a:r>
              <a:t>OUTPUT  QueryResponse plus stored trace.</a:t>
            </a:r>
            <a:br/>
            <a:r>
              <a:t>FAILURE  Retrieval rounds are bounded; errors cannot create an infinite loop.</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Typed state</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app/rag/state.py + app/retrieval/models.py</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Defines intermediate state, result payloads, and public response shape.</a:t>
            </a:r>
            <a:br/>
            <a:r>
              <a:t>INPUT  Stage outputs.</a:t>
            </a:r>
            <a:br/>
            <a:r>
              <a:t>OUTPUT  Validated Pydantic models.</a:t>
            </a:r>
            <a:br/>
            <a:r>
              <a:t>FAILURE  Malformed internal data fails early instead of leaking ambiguous dictionaries.</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Trace and analytics</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Repository query/plan/run/result/source records</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Records subqueries, candidate counts, evidence, confidence, latency, citations, and comparisons.</a:t>
            </a:r>
            <a:br/>
            <a:r>
              <a:t>INPUT  Runtime events.</a:t>
            </a:r>
            <a:br/>
            <a:r>
              <a:t>OUTPUT  Diagnostics and Insights views.</a:t>
            </a:r>
            <a:br/>
            <a:r>
              <a:t>FAILURE  Answers should not be treated as fully auditable if persistence fails.</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Structured logging</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app/logging.py + structlog</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Emits machine-readable operation, query, duration, and result fields.</a:t>
            </a:r>
            <a:br/>
            <a:r>
              <a:t>INPUT  Application events.</a:t>
            </a:r>
            <a:br/>
            <a:r>
              <a:t>OUTPUT  Console/service logs.</a:t>
            </a:r>
            <a:br/>
            <a:r>
              <a:t>FAILURE  Core behavior continues, but incident diagnosis becomes harder.</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The orchestrator owns sequence; typed state owns contracts; SQLite traces and logs own explainability.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TextBox 1"/>
          <p:cNvSpPr txBox="1"/>
          <p:nvPr/>
        </p:nvSpPr>
        <p:spPr>
          <a:xfrm>
            <a:off x="621792" y="310896"/>
            <a:ext cx="10789920" cy="256032"/>
          </a:xfrm>
          <a:prstGeom prst="rect">
            <a:avLst/>
          </a:prstGeom>
          <a:noFill/>
        </p:spPr>
        <p:txBody>
          <a:bodyPr wrap="square" lIns="36576" rIns="36576" tIns="36576" bIns="36576" anchor="t">
            <a:spAutoFit/>
          </a:bodyPr>
          <a:lstStyle/>
          <a:p>
            <a:pPr algn="l">
              <a:defRPr sz="1050" b="1">
                <a:solidFill>
                  <a:srgbClr val="2F6FED"/>
                </a:solidFill>
                <a:latin typeface="Aptos"/>
              </a:defRPr>
            </a:pPr>
            <a:r>
              <a:t>COMPONENT CATALOG | TECHNICAL APPENDIX</a:t>
            </a:r>
          </a:p>
        </p:txBody>
      </p:sp>
      <p:sp>
        <p:nvSpPr>
          <p:cNvPr id="3" name="TextBox 2"/>
          <p:cNvSpPr txBox="1"/>
          <p:nvPr/>
        </p:nvSpPr>
        <p:spPr>
          <a:xfrm>
            <a:off x="603504" y="621792"/>
            <a:ext cx="10972800" cy="530352"/>
          </a:xfrm>
          <a:prstGeom prst="rect">
            <a:avLst/>
          </a:prstGeom>
          <a:noFill/>
        </p:spPr>
        <p:txBody>
          <a:bodyPr wrap="square" lIns="36576" rIns="36576" tIns="36576" bIns="36576" anchor="t">
            <a:spAutoFit/>
          </a:bodyPr>
          <a:lstStyle/>
          <a:p>
            <a:pPr algn="l">
              <a:defRPr sz="2900" b="1">
                <a:solidFill>
                  <a:srgbClr val="172033"/>
                </a:solidFill>
                <a:latin typeface="Aptos"/>
              </a:defRPr>
            </a:pPr>
            <a:r>
              <a:t>Runtime, configuration, and verification components</a:t>
            </a:r>
          </a:p>
        </p:txBody>
      </p:sp>
      <p:sp>
        <p:nvSpPr>
          <p:cNvPr id="4" name="Rectangle 3"/>
          <p:cNvSpPr/>
          <p:nvPr/>
        </p:nvSpPr>
        <p:spPr>
          <a:xfrm>
            <a:off x="621792" y="1207008"/>
            <a:ext cx="658368" cy="50292"/>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6528816"/>
            <a:ext cx="4572000" cy="164592"/>
          </a:xfrm>
          <a:prstGeom prst="rect">
            <a:avLst/>
          </a:prstGeom>
          <a:noFill/>
        </p:spPr>
        <p:txBody>
          <a:bodyPr wrap="square" lIns="36576" rIns="36576" tIns="36576" bIns="36576" anchor="t">
            <a:spAutoFit/>
          </a:bodyPr>
          <a:lstStyle/>
          <a:p>
            <a:pPr algn="l">
              <a:defRPr sz="850" b="0">
                <a:solidFill>
                  <a:srgbClr val="667085"/>
                </a:solidFill>
                <a:latin typeface="Aptos"/>
              </a:defRPr>
            </a:pPr>
            <a:r>
              <a:t>AUSM Smart RAG</a:t>
            </a:r>
          </a:p>
        </p:txBody>
      </p:sp>
      <p:sp>
        <p:nvSpPr>
          <p:cNvPr id="6" name="TextBox 5"/>
          <p:cNvSpPr txBox="1"/>
          <p:nvPr/>
        </p:nvSpPr>
        <p:spPr>
          <a:xfrm>
            <a:off x="10927080" y="6510528"/>
            <a:ext cx="640080" cy="182880"/>
          </a:xfrm>
          <a:prstGeom prst="rect">
            <a:avLst/>
          </a:prstGeom>
          <a:noFill/>
        </p:spPr>
        <p:txBody>
          <a:bodyPr wrap="square" lIns="36576" rIns="36576" tIns="36576" bIns="36576" anchor="t">
            <a:spAutoFit/>
          </a:bodyPr>
          <a:lstStyle/>
          <a:p>
            <a:pPr algn="r">
              <a:defRPr sz="850" b="0">
                <a:solidFill>
                  <a:srgbClr val="667085"/>
                </a:solidFill>
                <a:latin typeface="Aptos"/>
              </a:defRPr>
            </a:pPr>
            <a:r>
              <a:t>32</a:t>
            </a:r>
          </a:p>
        </p:txBody>
      </p:sp>
      <p:sp>
        <p:nvSpPr>
          <p:cNvPr id="7" name="Rounded Rectangle 6"/>
          <p:cNvSpPr/>
          <p:nvPr/>
        </p:nvSpPr>
        <p:spPr>
          <a:xfrm>
            <a:off x="65836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73152" cy="1938528"/>
          </a:xfrm>
          <a:prstGeom prst="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Settings</a:t>
            </a:r>
          </a:p>
        </p:txBody>
      </p:sp>
      <p:sp>
        <p:nvSpPr>
          <p:cNvPr id="10" name="TextBox 9"/>
          <p:cNvSpPr txBox="1"/>
          <p:nvPr/>
        </p:nvSpPr>
        <p:spPr>
          <a:xfrm>
            <a:off x="905256" y="1883664"/>
            <a:ext cx="4818888" cy="228600"/>
          </a:xfrm>
          <a:prstGeom prst="rect">
            <a:avLst/>
          </a:prstGeom>
          <a:noFill/>
        </p:spPr>
        <p:txBody>
          <a:bodyPr wrap="square" lIns="36576" rIns="36576" tIns="36576" bIns="36576" anchor="t">
            <a:spAutoFit/>
          </a:bodyPr>
          <a:lstStyle/>
          <a:p>
            <a:pPr algn="l">
              <a:defRPr sz="950" b="1">
                <a:solidFill>
                  <a:srgbClr val="2F6FED"/>
                </a:solidFill>
                <a:latin typeface="Cascadia Mono"/>
              </a:defRPr>
            </a:pPr>
            <a:r>
              <a:t>app/config.py + .env</a:t>
            </a:r>
          </a:p>
        </p:txBody>
      </p:sp>
      <p:sp>
        <p:nvSpPr>
          <p:cNvPr id="11" name="TextBox 10"/>
          <p:cNvSpPr txBox="1"/>
          <p:nvPr/>
        </p:nvSpPr>
        <p:spPr>
          <a:xfrm>
            <a:off x="905256"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Centralizes model names, URLs, paths, limits, thresholds, and feature flags.</a:t>
            </a:r>
            <a:br/>
            <a:r>
              <a:t>INPUT  Environment variables/defaults.</a:t>
            </a:r>
            <a:br/>
            <a:r>
              <a:t>OUTPUT  Validated Settings object and data directories.</a:t>
            </a:r>
            <a:br/>
            <a:r>
              <a:t>FAILURE  Invalid URLs/configuration fail early and visibly.</a:t>
            </a:r>
          </a:p>
        </p:txBody>
      </p:sp>
      <p:sp>
        <p:nvSpPr>
          <p:cNvPr id="12" name="Rounded Rectangle 11"/>
          <p:cNvSpPr/>
          <p:nvPr/>
        </p:nvSpPr>
        <p:spPr>
          <a:xfrm>
            <a:off x="6190488" y="1371600"/>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1371600"/>
            <a:ext cx="73152" cy="1938528"/>
          </a:xfrm>
          <a:prstGeom prst="rect">
            <a:avLst/>
          </a:prstGeom>
          <a:solidFill>
            <a:srgbClr val="13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536192"/>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Container services</a:t>
            </a:r>
          </a:p>
        </p:txBody>
      </p:sp>
      <p:sp>
        <p:nvSpPr>
          <p:cNvPr id="15" name="TextBox 14"/>
          <p:cNvSpPr txBox="1"/>
          <p:nvPr/>
        </p:nvSpPr>
        <p:spPr>
          <a:xfrm>
            <a:off x="6437375" y="1883664"/>
            <a:ext cx="4818888" cy="228600"/>
          </a:xfrm>
          <a:prstGeom prst="rect">
            <a:avLst/>
          </a:prstGeom>
          <a:noFill/>
        </p:spPr>
        <p:txBody>
          <a:bodyPr wrap="square" lIns="36576" rIns="36576" tIns="36576" bIns="36576" anchor="t">
            <a:spAutoFit/>
          </a:bodyPr>
          <a:lstStyle/>
          <a:p>
            <a:pPr algn="l">
              <a:defRPr sz="950" b="1">
                <a:solidFill>
                  <a:srgbClr val="13795B"/>
                </a:solidFill>
                <a:latin typeface="Cascadia Mono"/>
              </a:defRPr>
            </a:pPr>
            <a:r>
              <a:t>docker-compose.yml</a:t>
            </a:r>
          </a:p>
        </p:txBody>
      </p:sp>
      <p:sp>
        <p:nvSpPr>
          <p:cNvPr id="16" name="TextBox 15"/>
          <p:cNvSpPr txBox="1"/>
          <p:nvPr/>
        </p:nvSpPr>
        <p:spPr>
          <a:xfrm>
            <a:off x="6437375" y="2203704"/>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Runs pinned Qdrant with loopback ports, health check, and named persistent volume.</a:t>
            </a:r>
            <a:br/>
            <a:r>
              <a:t>INPUT  Docker Desktop.</a:t>
            </a:r>
            <a:br/>
            <a:r>
              <a:t>OUTPUT  Reproducible local vector service.</a:t>
            </a:r>
            <a:br/>
            <a:r>
              <a:t>FAILURE  Retrieval/indexing stop; canonical OKF remains available for rebuild.</a:t>
            </a:r>
          </a:p>
        </p:txBody>
      </p:sp>
      <p:sp>
        <p:nvSpPr>
          <p:cNvPr id="17" name="Rounded Rectangle 16"/>
          <p:cNvSpPr/>
          <p:nvPr/>
        </p:nvSpPr>
        <p:spPr>
          <a:xfrm>
            <a:off x="65836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584448"/>
            <a:ext cx="73152" cy="19385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Setup and doctor</a:t>
            </a:r>
          </a:p>
        </p:txBody>
      </p:sp>
      <p:sp>
        <p:nvSpPr>
          <p:cNvPr id="20" name="TextBox 19"/>
          <p:cNvSpPr txBox="1"/>
          <p:nvPr/>
        </p:nvSpPr>
        <p:spPr>
          <a:xfrm>
            <a:off x="905256" y="4096512"/>
            <a:ext cx="4818888" cy="228600"/>
          </a:xfrm>
          <a:prstGeom prst="rect">
            <a:avLst/>
          </a:prstGeom>
          <a:noFill/>
        </p:spPr>
        <p:txBody>
          <a:bodyPr wrap="square" lIns="36576" rIns="36576" tIns="36576" bIns="36576" anchor="t">
            <a:spAutoFit/>
          </a:bodyPr>
          <a:lstStyle/>
          <a:p>
            <a:pPr algn="l">
              <a:defRPr sz="950" b="1">
                <a:solidFill>
                  <a:srgbClr val="F59E0B"/>
                </a:solidFill>
                <a:latin typeface="Cascadia Mono"/>
              </a:defRPr>
            </a:pPr>
            <a:r>
              <a:t>scripts/setup.ps1 + doctor.ps1</a:t>
            </a:r>
          </a:p>
        </p:txBody>
      </p:sp>
      <p:sp>
        <p:nvSpPr>
          <p:cNvPr id="21" name="TextBox 20"/>
          <p:cNvSpPr txBox="1"/>
          <p:nvPr/>
        </p:nvSpPr>
        <p:spPr>
          <a:xfrm>
            <a:off x="905256"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Creates .venv, installs pinned packages, pulls models, starts Qdrant, and checks dependencies.</a:t>
            </a:r>
            <a:br/>
            <a:r>
              <a:t>INPUT  Python 3.12, Docker, Ollama, Git.</a:t>
            </a:r>
            <a:br/>
            <a:r>
              <a:t>OUTPUT  Ready environment or named corrective action.</a:t>
            </a:r>
            <a:br/>
            <a:r>
              <a:t>FAILURE  Stops at the failing prerequisite.</a:t>
            </a:r>
          </a:p>
        </p:txBody>
      </p:sp>
      <p:sp>
        <p:nvSpPr>
          <p:cNvPr id="22" name="Rounded Rectangle 21"/>
          <p:cNvSpPr/>
          <p:nvPr/>
        </p:nvSpPr>
        <p:spPr>
          <a:xfrm>
            <a:off x="6190488" y="3584448"/>
            <a:ext cx="5340096" cy="1938528"/>
          </a:xfrm>
          <a:prstGeom prst="roundRect">
            <a:avLst/>
          </a:prstGeom>
          <a:solidFill>
            <a:srgbClr val="FFFFFF"/>
          </a:solidFill>
          <a:ln w="12700">
            <a:solidFill>
              <a:srgbClr val="DA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0488" y="3584448"/>
            <a:ext cx="73152" cy="1938528"/>
          </a:xfrm>
          <a:prstGeom prst="rect">
            <a:avLst/>
          </a:prstGeom>
          <a:solidFill>
            <a:srgbClr val="FF4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5" y="3749039"/>
            <a:ext cx="3611880" cy="292608"/>
          </a:xfrm>
          <a:prstGeom prst="rect">
            <a:avLst/>
          </a:prstGeom>
          <a:noFill/>
        </p:spPr>
        <p:txBody>
          <a:bodyPr wrap="square" lIns="36576" rIns="36576" tIns="36576" bIns="36576" anchor="t">
            <a:spAutoFit/>
          </a:bodyPr>
          <a:lstStyle/>
          <a:p>
            <a:pPr algn="l">
              <a:defRPr sz="1600" b="1">
                <a:solidFill>
                  <a:srgbClr val="172033"/>
                </a:solidFill>
                <a:latin typeface="Aptos"/>
              </a:defRPr>
            </a:pPr>
            <a:r>
              <a:t>Automated verification</a:t>
            </a:r>
          </a:p>
        </p:txBody>
      </p:sp>
      <p:sp>
        <p:nvSpPr>
          <p:cNvPr id="25" name="TextBox 24"/>
          <p:cNvSpPr txBox="1"/>
          <p:nvPr/>
        </p:nvSpPr>
        <p:spPr>
          <a:xfrm>
            <a:off x="6437375" y="4096512"/>
            <a:ext cx="4818888" cy="228600"/>
          </a:xfrm>
          <a:prstGeom prst="rect">
            <a:avLst/>
          </a:prstGeom>
          <a:noFill/>
        </p:spPr>
        <p:txBody>
          <a:bodyPr wrap="square" lIns="36576" rIns="36576" tIns="36576" bIns="36576" anchor="t">
            <a:spAutoFit/>
          </a:bodyPr>
          <a:lstStyle/>
          <a:p>
            <a:pPr algn="l">
              <a:defRPr sz="950" b="1">
                <a:solidFill>
                  <a:srgbClr val="FF4D4F"/>
                </a:solidFill>
                <a:latin typeface="Cascadia Mono"/>
              </a:defRPr>
            </a:pPr>
            <a:r>
              <a:t>tests/unit + tests/integration + evaluation</a:t>
            </a:r>
          </a:p>
        </p:txBody>
      </p:sp>
      <p:sp>
        <p:nvSpPr>
          <p:cNvPr id="26" name="TextBox 25"/>
          <p:cNvSpPr txBox="1"/>
          <p:nvPr/>
        </p:nvSpPr>
        <p:spPr>
          <a:xfrm>
            <a:off x="6437375" y="4416552"/>
            <a:ext cx="4828032" cy="932688"/>
          </a:xfrm>
          <a:prstGeom prst="rect">
            <a:avLst/>
          </a:prstGeom>
          <a:noFill/>
        </p:spPr>
        <p:txBody>
          <a:bodyPr wrap="square" lIns="36576" rIns="36576" tIns="36576" bIns="36576" anchor="t">
            <a:spAutoFit/>
          </a:bodyPr>
          <a:lstStyle/>
          <a:p>
            <a:pPr algn="l">
              <a:defRPr sz="1150" b="0">
                <a:solidFill>
                  <a:srgbClr val="172033"/>
                </a:solidFill>
                <a:latin typeface="Aptos"/>
              </a:defRPr>
            </a:pPr>
            <a:r>
              <a:t>ROLE  Covers core logic, database, ingestion, client, Ollama behavior, and local retrieval.</a:t>
            </a:r>
            <a:br/>
            <a:r>
              <a:t>INPUT  Controlled fixtures or live dependencies.</a:t>
            </a:r>
            <a:br/>
            <a:r>
              <a:t>OUTPUT  Repeatable pass/fail evidence.</a:t>
            </a:r>
            <a:br/>
            <a:r>
              <a:t>FAILURE  A failing test blocks confidence in the affected behavior.</a:t>
            </a:r>
          </a:p>
        </p:txBody>
      </p:sp>
      <p:sp>
        <p:nvSpPr>
          <p:cNvPr id="27" name="Rounded Rectangle 26"/>
          <p:cNvSpPr/>
          <p:nvPr/>
        </p:nvSpPr>
        <p:spPr>
          <a:xfrm>
            <a:off x="914400" y="5870448"/>
            <a:ext cx="10369296" cy="530352"/>
          </a:xfrm>
          <a:prstGeom prst="roundRect">
            <a:avLst/>
          </a:prstGeom>
          <a:solidFill>
            <a:srgbClr val="EEF4FF"/>
          </a:solidFill>
          <a:ln w="12700">
            <a:solidFill>
              <a:srgbClr val="EE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 y="5998464"/>
            <a:ext cx="960120" cy="228600"/>
          </a:xfrm>
          <a:prstGeom prst="rect">
            <a:avLst/>
          </a:prstGeom>
          <a:noFill/>
        </p:spPr>
        <p:txBody>
          <a:bodyPr wrap="square" lIns="36576" rIns="36576" tIns="36576" bIns="36576" anchor="t">
            <a:spAutoFit/>
          </a:bodyPr>
          <a:lstStyle/>
          <a:p>
            <a:pPr algn="l">
              <a:defRPr sz="900" b="1">
                <a:solidFill>
                  <a:srgbClr val="2F6FED"/>
                </a:solidFill>
                <a:latin typeface="Aptos"/>
              </a:defRPr>
            </a:pPr>
            <a:r>
              <a:t>KEY POINT</a:t>
            </a:r>
          </a:p>
        </p:txBody>
      </p:sp>
      <p:sp>
        <p:nvSpPr>
          <p:cNvPr id="29" name="TextBox 28"/>
          <p:cNvSpPr txBox="1"/>
          <p:nvPr/>
        </p:nvSpPr>
        <p:spPr>
          <a:xfrm>
            <a:off x="2039112" y="5971032"/>
            <a:ext cx="9089136" cy="292608"/>
          </a:xfrm>
          <a:prstGeom prst="rect">
            <a:avLst/>
          </a:prstGeom>
          <a:noFill/>
        </p:spPr>
        <p:txBody>
          <a:bodyPr wrap="square" lIns="36576" rIns="36576" tIns="36576" bIns="36576" anchor="t">
            <a:spAutoFit/>
          </a:bodyPr>
          <a:lstStyle/>
          <a:p>
            <a:pPr algn="l">
              <a:defRPr sz="1300" b="1">
                <a:solidFill>
                  <a:srgbClr val="172033"/>
                </a:solidFill>
                <a:latin typeface="Aptos"/>
              </a:defRPr>
            </a:pPr>
            <a:r>
              <a:t>Operations are part of the architecture: reproducible setup, explicit health, persistence, and tests keep the demo maintainable.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AUSM Smart RAG — Complete Architecture and Demo</dc:title>
  <dc:subject>Local agentic RAG architecture, setup, operation, and FAQ</dc:subject>
  <dc:creator>AUSM Project Team</dc:creator>
  <cp:keywords>RAG, Ollama, Qdrant, FastAPI, Streamlit, OKF</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